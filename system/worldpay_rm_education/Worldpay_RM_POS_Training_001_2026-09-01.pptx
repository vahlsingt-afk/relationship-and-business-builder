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9a0260d57d4475" /><Relationship Type="http://schemas.openxmlformats.org/officeDocument/2006/relationships/extended-properties" Target="/docProps/app.xml" Id="Rd46faf96dac84c20" /><Relationship Type="http://schemas.openxmlformats.org/officeDocument/2006/relationships/officeDocument" Target="/ppt/presentation.xml" Id="R2d46952892d84c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b5e7514be146ed"/>
  </p:sldMasterIdLst>
  <p:notesMasterIdLst>
    <p:notesMasterId xmlns:r="http://schemas.openxmlformats.org/officeDocument/2006/relationships" r:id="R76b8279daad74f80"/>
  </p:notesMasterIdLst>
  <p:sldIdLst>
    <p:sldId xmlns:r="http://schemas.openxmlformats.org/officeDocument/2006/relationships" id="256" r:id="Rfec477dffbde4dbc"/>
    <p:sldId xmlns:r="http://schemas.openxmlformats.org/officeDocument/2006/relationships" id="257" r:id="R9d238a476a154ea8"/>
    <p:sldId xmlns:r="http://schemas.openxmlformats.org/officeDocument/2006/relationships" id="258" r:id="Re020519cd0a44f80"/>
    <p:sldId xmlns:r="http://schemas.openxmlformats.org/officeDocument/2006/relationships" id="259" r:id="R35812d02bc184c7f"/>
    <p:sldId xmlns:r="http://schemas.openxmlformats.org/officeDocument/2006/relationships" id="260" r:id="R6484d5721bfc450d"/>
    <p:sldId xmlns:r="http://schemas.openxmlformats.org/officeDocument/2006/relationships" id="261" r:id="Rd41718e2abc24b8b"/>
    <p:sldId xmlns:r="http://schemas.openxmlformats.org/officeDocument/2006/relationships" id="262" r:id="R13e1eb6f6e6d478c"/>
    <p:sldId xmlns:r="http://schemas.openxmlformats.org/officeDocument/2006/relationships" id="263" r:id="R903c433bd5a44054"/>
    <p:sldId xmlns:r="http://schemas.openxmlformats.org/officeDocument/2006/relationships" id="264" r:id="R3495047b869f4d6a"/>
    <p:sldId xmlns:r="http://schemas.openxmlformats.org/officeDocument/2006/relationships" id="265" r:id="R51bf741cb9384c71"/>
    <p:sldId xmlns:r="http://schemas.openxmlformats.org/officeDocument/2006/relationships" id="266" r:id="R128500d9825d4503"/>
    <p:sldId xmlns:r="http://schemas.openxmlformats.org/officeDocument/2006/relationships" id="267" r:id="Rdabdbfa7c3c845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2785726a604616" /><Relationship Type="http://schemas.openxmlformats.org/officeDocument/2006/relationships/slideMaster" Target="/ppt/slideMasters/slideMaster1.xml" Id="R10b5e7514be146ed" /><Relationship Type="http://schemas.openxmlformats.org/officeDocument/2006/relationships/notesMaster" Target="/ppt/notesMasters/notesMaster1.xml" Id="R76b8279daad74f80" /><Relationship Type="http://schemas.openxmlformats.org/officeDocument/2006/relationships/presProps" Target="/ppt/presProps.xml" Id="Rd2a3ee2699ff44b0" /><Relationship Type="http://schemas.openxmlformats.org/officeDocument/2006/relationships/tableStyles" Target="/ppt/tableStyles.xml" Id="Rf3aa94f4560f4811" /><Relationship Type="http://schemas.openxmlformats.org/officeDocument/2006/relationships/slide" Target="/ppt/slides/slide1.xml" Id="Rfec477dffbde4dbc" /><Relationship Type="http://schemas.openxmlformats.org/officeDocument/2006/relationships/slide" Target="/ppt/slides/slide2.xml" Id="R9d238a476a154ea8" /><Relationship Type="http://schemas.openxmlformats.org/officeDocument/2006/relationships/slide" Target="/ppt/slides/slide3.xml" Id="Re020519cd0a44f80" /><Relationship Type="http://schemas.openxmlformats.org/officeDocument/2006/relationships/slide" Target="/ppt/slides/slide4.xml" Id="R35812d02bc184c7f" /><Relationship Type="http://schemas.openxmlformats.org/officeDocument/2006/relationships/slide" Target="/ppt/slides/slide5.xml" Id="R6484d5721bfc450d" /><Relationship Type="http://schemas.openxmlformats.org/officeDocument/2006/relationships/slide" Target="/ppt/slides/slide6.xml" Id="Rd41718e2abc24b8b" /><Relationship Type="http://schemas.openxmlformats.org/officeDocument/2006/relationships/slide" Target="/ppt/slides/slide7.xml" Id="R13e1eb6f6e6d478c" /><Relationship Type="http://schemas.openxmlformats.org/officeDocument/2006/relationships/slide" Target="/ppt/slides/slide8.xml" Id="R903c433bd5a44054" /><Relationship Type="http://schemas.openxmlformats.org/officeDocument/2006/relationships/slide" Target="/ppt/slides/slide9.xml" Id="R3495047b869f4d6a" /><Relationship Type="http://schemas.openxmlformats.org/officeDocument/2006/relationships/slide" Target="/ppt/slides/slide10.xml" Id="R51bf741cb9384c71" /><Relationship Type="http://schemas.openxmlformats.org/officeDocument/2006/relationships/slide" Target="/ppt/slides/slide11.xml" Id="R128500d9825d4503" /><Relationship Type="http://schemas.openxmlformats.org/officeDocument/2006/relationships/slide" Target="/ppt/slides/slide12.xml" Id="Rdabdbfa7c3c845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fb403cfa1d40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740331d1ba4d82" /><Relationship Type="http://schemas.openxmlformats.org/officeDocument/2006/relationships/notesMaster" Target="/ppt/notesMasters/notesMaster1.xml" Id="R9443a84f7b9142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97f23548a54042" /><Relationship Type="http://schemas.openxmlformats.org/officeDocument/2006/relationships/notesMaster" Target="/ppt/notesMasters/notesMaster1.xml" Id="R0879e4a285844b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7b57053cf3452c" /><Relationship Type="http://schemas.openxmlformats.org/officeDocument/2006/relationships/notesMaster" Target="/ppt/notesMasters/notesMaster1.xml" Id="R56029a6db6a64a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459ef144b94b2b" /><Relationship Type="http://schemas.openxmlformats.org/officeDocument/2006/relationships/notesMaster" Target="/ppt/notesMasters/notesMaster1.xml" Id="R5612d9d682534e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9c10f2091d4b48" /><Relationship Type="http://schemas.openxmlformats.org/officeDocument/2006/relationships/notesMaster" Target="/ppt/notesMasters/notesMaster1.xml" Id="R5b9596dc5d0c48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0cf0881a3c4ea0" /><Relationship Type="http://schemas.openxmlformats.org/officeDocument/2006/relationships/notesMaster" Target="/ppt/notesMasters/notesMaster1.xml" Id="R927c950116b14c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b041b2e9bd4ac5" /><Relationship Type="http://schemas.openxmlformats.org/officeDocument/2006/relationships/notesMaster" Target="/ppt/notesMasters/notesMaster1.xml" Id="R4691a0f6af3647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14930661074fcd" /><Relationship Type="http://schemas.openxmlformats.org/officeDocument/2006/relationships/notesMaster" Target="/ppt/notesMasters/notesMaster1.xml" Id="R37e74d9b96a540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f5f1e03eca472c" /><Relationship Type="http://schemas.openxmlformats.org/officeDocument/2006/relationships/notesMaster" Target="/ppt/notesMasters/notesMaster1.xml" Id="Rb71f7b82288a42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f8f49ec5a94024" /><Relationship Type="http://schemas.openxmlformats.org/officeDocument/2006/relationships/notesMaster" Target="/ppt/notesMasters/notesMaster1.xml" Id="Rf59678746bc541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b7b4a159cb46f5" /><Relationship Type="http://schemas.openxmlformats.org/officeDocument/2006/relationships/notesMaster" Target="/ppt/notesMasters/notesMaster1.xml" Id="R81750a8f159445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37fc43ac654be2" /><Relationship Type="http://schemas.openxmlformats.org/officeDocument/2006/relationships/notesMaster" Target="/ppt/notesMasters/notesMaster1.xml" Id="R80bd72a6275c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audience promise: this is not a solution-engineer certification. It gives RMs enough POS fluency to recognize account pain and bring Genius in at the right moment.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001 restaurant tech stack overview.</a:t>
            </a:r>
          </a:p>
          <a:p xmlns:a="http://schemas.openxmlformats.org/drawingml/2006/main">
            <a:r>
              <a:t>Todd weekly priority update, 2026-08-31.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mental-model shift. The RM knows payments, but POS determines the order, route, tender, refund, and reporting context around that payment.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001 restaurant tech stack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point: POS is not a register. It is the control point that creates the context for the payment and the operational data behind the transaction.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001 restaurant tech stack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Explicitly call out the channels RMs will hear in the field: drive-thru, kiosk, handheld, online ordering, and delivery. They are not isolated products; they have to flow through POS and payment.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001 restaurant tech stack overview.</a:t>
            </a:r>
          </a:p>
          <a:p xmlns:a="http://schemas.openxmlformats.org/drawingml/2006/main">
            <a:r>
              <a:t>Genius POS for IKEA discussion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Todd's POV. Corporate buyers need a visible win and fewer franchisee escalations. Store operators decide whether the system actually works during peak periods.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Todd feedback on WP RM training, 2026-07-30.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POS #1 is not all of Genius. It is the entry point into the platform: KDS, hardware, payments, service formats, deployment, support, and visibility.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001 restaurant tech stack overview.</a:t>
            </a:r>
          </a:p>
          <a:p xmlns:a="http://schemas.openxmlformats.org/drawingml/2006/main">
            <a:r>
              <a:t>Genius platform training deck, Session 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IKEA as a practical example only if helpful: a semi-outdoor food-truck environment changes the hardware and connectivity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Genius POS for IKEA proposal discussion.</a:t>
            </a:r>
          </a:p>
          <a:p xmlns:a="http://schemas.openxmlformats.org/drawingml/2006/main">
            <a:r>
              <a:t>Course 001 restaurant tech stack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directly reflects Todd's guardrail. The RM should understand competitive pressure without turning the conversation into an anti-competitor pitch.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Todd feedback on competitor posture, 2026-07-30 and 2026-08-05 Amy Spytko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training should make RMs more precise. A good handoff includes the trigger, current stack, pain, owner, timing, and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Worldpay 30 Account Capture Plan.</a:t>
            </a:r>
          </a:p>
          <a:p xmlns:a="http://schemas.openxmlformats.org/drawingml/2006/main">
            <a:r>
              <a:t>Course 001 restaurant tech stack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five questions RMs should be able to use immediately. They are also the basis for the leave-behind collateral.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001 restaurant tech stack overview.</a:t>
            </a:r>
          </a:p>
          <a:p xmlns:a="http://schemas.openxmlformats.org/drawingml/2006/main">
            <a:r>
              <a:t>Worldpay 30 Account Capture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should become the field standard: the RM does not need to solve the technical issue, but the RM should capture enough context to avoid a generic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Enterprise sales new-hire playbook.</a:t>
            </a:r>
          </a:p>
          <a:p xmlns:a="http://schemas.openxmlformats.org/drawingml/2006/main">
            <a:r>
              <a:t>Worldpay 30 Account Capture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one real account example. The goal is activation: RMs should leave able to identify and qualify POS/platform opportunities.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001 restaurant tech stack overview.</a:t>
            </a:r>
          </a:p>
          <a:p xmlns:a="http://schemas.openxmlformats.org/drawingml/2006/main">
            <a:r>
              <a:t>Todd note: future training should go deeper on each piece of the Genius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d4ed43b6b4c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56cc73d7f140ca" /><Relationship Type="http://schemas.openxmlformats.org/officeDocument/2006/relationships/slideLayout" Target="/ppt/slideLayouts/slideLayout1.xml" Id="R30ab2eeb8e4942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ab2eeb8e4942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5ad50958340ba" /><Relationship Type="http://schemas.openxmlformats.org/officeDocument/2006/relationships/notesSlide" Target="/ppt/notesSlides/notesSlide1.xml" Id="R178893d218e340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130cfe99a4361" /><Relationship Type="http://schemas.openxmlformats.org/officeDocument/2006/relationships/notesSlide" Target="/ppt/notesSlides/notesSlide2.xml" Id="R19254d1e68fe4d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fae28e46e4952" /><Relationship Type="http://schemas.openxmlformats.org/officeDocument/2006/relationships/notesSlide" Target="/ppt/notesSlides/notesSlide3.xml" Id="R149e4fe8fcfa4c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8d6e98bea445a" /><Relationship Type="http://schemas.openxmlformats.org/officeDocument/2006/relationships/notesSlide" Target="/ppt/notesSlides/notesSlide4.xml" Id="R45069945768f4e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d8adcf9d9413f" /><Relationship Type="http://schemas.openxmlformats.org/officeDocument/2006/relationships/notesSlide" Target="/ppt/notesSlides/notesSlide5.xml" Id="R0432c583791042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837fd6db44364" /><Relationship Type="http://schemas.openxmlformats.org/officeDocument/2006/relationships/notesSlide" Target="/ppt/notesSlides/notesSlide6.xml" Id="Rff0661edc47d4a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f9d7e897f4899" /><Relationship Type="http://schemas.openxmlformats.org/officeDocument/2006/relationships/notesSlide" Target="/ppt/notesSlides/notesSlide7.xml" Id="R4c0973d93f064b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4e5b8572742fb" /><Relationship Type="http://schemas.openxmlformats.org/officeDocument/2006/relationships/notesSlide" Target="/ppt/notesSlides/notesSlide8.xml" Id="Ra090687d87bb45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d2382da0742d7" /><Relationship Type="http://schemas.openxmlformats.org/officeDocument/2006/relationships/notesSlide" Target="/ppt/notesSlides/notesSlide9.xml" Id="Rb4b45c29bdf24c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8416835cc4263" /><Relationship Type="http://schemas.openxmlformats.org/officeDocument/2006/relationships/notesSlide" Target="/ppt/notesSlides/notesSlide10.xml" Id="R14b882e03d164d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2b9c352c7476a" /><Relationship Type="http://schemas.openxmlformats.org/officeDocument/2006/relationships/notesSlide" Target="/ppt/notesSlides/notesSlide11.xml" Id="Rb6e9352eacd748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228e8a6d04423" /><Relationship Type="http://schemas.openxmlformats.org/officeDocument/2006/relationships/notesSlide" Target="/ppt/notesSlides/notesSlide12.xml" Id="R2062071feba540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483FC-2547-4C14-B813-C0EA625C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</a:defRPr>
            </a:pPr>
            <a:r>
              <a:rPr sz="4350" b="1">
                <a:solidFill>
                  <a:srgbClr val="172033"/>
                </a:solidFill>
              </a:rPr>
              <a:t>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6FF19-8E16-4303-A36A-96BDF108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02534"/>
                </a:solidFill>
              </a:defRPr>
            </a:pPr>
            <a:r>
              <a:rPr sz="2250" b="0">
                <a:solidFill>
                  <a:srgbClr val="202534"/>
                </a:solidFill>
              </a:rPr>
              <a:t>How restaurant POS turns payments into an operating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77CC5-723A-4705-9E67-C34EEC09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5"/>
                </a:solidFill>
              </a:defRPr>
            </a:pPr>
            <a:r>
              <a:rPr sz="1650" b="0">
                <a:solidFill>
                  <a:srgbClr val="5E6675"/>
                </a:solidFill>
              </a:rPr>
              <a:t>A 20-minute field primer for Worldpay relationship managers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AD1E5-9703-47F1-AFC5-6EE2FCD8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CAB"/>
                </a:solidFill>
              </a:defRPr>
            </a:pPr>
            <a:r>
              <a:rPr sz="1650" b="1">
                <a:solidFill>
                  <a:srgbClr val="0B5CAB"/>
                </a:solidFill>
              </a:rPr>
              <a:t>Q&amp;A: 10 minutes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500EF-48E2-49FA-9B39-BD3D0790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23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B"/>
          </a:solidFill>
          <a:ln xmlns:a="http://schemas.openxmlformats.org/drawingml/2006/main" w="0">
            <a:solidFill>
              <a:srgbClr val="0B5CA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B62E7-3617-4667-82BC-CC459495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8191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BA3E9-F438-4CD4-BEDD-FF2F0038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09750"/>
            <a:ext cx="2143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POS fluency for payments-first sellers</a:t>
            </a:r>
          </a:p>
        </p:txBody>
      </p:sp>
    </p:spTree>
    <p:extLst>
      <p:ext uri="{BB962C8B-B14F-4D97-AF65-F5344CB8AC3E}">
        <p14:creationId xmlns:p14="http://schemas.microsoft.com/office/powerpoint/2010/main" val="658068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FEFE7-AC0A-4EAC-99DA-C006538C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B"/>
                </a:solidFill>
              </a:defRPr>
            </a:pPr>
            <a:r>
              <a:rPr sz="1050" b="1">
                <a:solidFill>
                  <a:srgbClr val="0B5CAB"/>
                </a:solidFill>
              </a:rPr>
              <a:t>WORLDPAY RM EDUCATION | 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E6413-BCEC-4039-AE6E-0486AAE8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The RM job is to see when payments is really a POS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2908B-1402-4C47-B0AC-0083E141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B7C2C-0F5D-40D3-BF63-E5E8EDF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FFBD3-E06C-4D13-9B8E-0597A489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5635B-F204-4F49-84BB-F2E6DB57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B"/>
          </a:solidFill>
          <a:ln xmlns:a="http://schemas.openxmlformats.org/drawingml/2006/main" w="0">
            <a:solidFill>
              <a:srgbClr val="0B5C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72A7F-04A6-449B-85BE-5E6F2EB3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RMs already know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DA04-F6B1-4B0D-A3FB-8D327517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457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authorization, settlement, funding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card-present and card-not-present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chargebacks, fraud, reconciliation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commercial value of payment volume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4F698-AD1E-4575-96FB-CDB7FC8B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F6D"/>
          </a:solidFill>
          <a:ln xmlns:a="http://schemas.openxmlformats.org/drawingml/2006/main" w="0">
            <a:solidFill>
              <a:srgbClr val="178F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02A8D-23B6-4D57-9529-BC869798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POS adds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EB4CC-91C1-4179-B793-A931E754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457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order source and menu logic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tax, discounts, modifiers, tenders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kitchen routing and fulfillment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store reporting and operator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E9876-5DAC-440E-B55B-57577248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81625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Translation: the transaction starts as an order before it becomes a payment.</a:t>
            </a:r>
          </a:p>
        </p:txBody>
      </p:sp>
    </p:spTree>
    <p:extLst>
      <p:ext uri="{BB962C8B-B14F-4D97-AF65-F5344CB8AC3E}">
        <p14:creationId xmlns:p14="http://schemas.microsoft.com/office/powerpoint/2010/main" val="1580088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68F59-B24A-4067-BA3C-40938BDC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B"/>
                </a:solidFill>
              </a:defRPr>
            </a:pPr>
            <a:r>
              <a:rPr sz="1050" b="1">
                <a:solidFill>
                  <a:srgbClr val="0B5CAB"/>
                </a:solidFill>
              </a:rPr>
              <a:t>WORLDPAY RM EDUCATION | 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6A25B-1993-4919-B487-EEF9EB9D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A POS is the restaurant’s operating control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AA18C-D9DE-432B-B52A-AC9CB2ED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99693-8CD1-4304-8808-86C9F6DB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54E45-130F-425F-AB34-6FB9C509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43911-DFB8-4C56-8B96-48464B57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534"/>
                </a:solidFill>
              </a:defRPr>
            </a:pPr>
            <a:r>
              <a:rPr sz="1350" b="0">
                <a:solidFill>
                  <a:srgbClr val="202534"/>
                </a:solidFill>
              </a:rPr>
              <a:t>Menu</a:t>
            </a:r>
          </a:p>
          <a:p xmlns:a="http://schemas.openxmlformats.org/drawingml/2006/main">
            <a:pPr algn="ctr">
              <a:defRPr sz="1350" b="0">
                <a:solidFill>
                  <a:srgbClr val="202534"/>
                </a:solidFill>
              </a:defRPr>
            </a:pPr>
            <a:r>
              <a:rPr sz="1350" b="0">
                <a:solidFill>
                  <a:srgbClr val="202534"/>
                </a:solidFill>
              </a:rPr>
              <a:t>items, prices, modifiers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57F21-756B-42EE-B609-8E110995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860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534"/>
                </a:solidFill>
              </a:defRPr>
            </a:pPr>
            <a:r>
              <a:rPr sz="1350" b="0">
                <a:solidFill>
                  <a:srgbClr val="202534"/>
                </a:solidFill>
              </a:rPr>
              <a:t>Order</a:t>
            </a:r>
          </a:p>
          <a:p xmlns:a="http://schemas.openxmlformats.org/drawingml/2006/main">
            <a:pPr algn="ctr">
              <a:defRPr sz="1350" b="0">
                <a:solidFill>
                  <a:srgbClr val="202534"/>
                </a:solidFill>
              </a:defRPr>
            </a:pPr>
            <a:r>
              <a:rPr sz="1350" b="0">
                <a:solidFill>
                  <a:srgbClr val="202534"/>
                </a:solidFill>
              </a:rPr>
              <a:t>counter, handheld, kiosk, drive-thru, online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0FAC9-7181-4F43-B6C3-57014F9E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860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00A6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Tender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payment, refund, reconciliation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D70E4-FF16-4F32-83F8-858FBD91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860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534"/>
                </a:solidFill>
              </a:defRPr>
            </a:pPr>
            <a:r>
              <a:rPr sz="1350" b="0">
                <a:solidFill>
                  <a:srgbClr val="202534"/>
                </a:solidFill>
              </a:rPr>
              <a:t>Kitchen</a:t>
            </a:r>
          </a:p>
          <a:p xmlns:a="http://schemas.openxmlformats.org/drawingml/2006/main">
            <a:pPr algn="ctr">
              <a:defRPr sz="1350" b="0">
                <a:solidFill>
                  <a:srgbClr val="202534"/>
                </a:solidFill>
              </a:defRPr>
            </a:pPr>
            <a:r>
              <a:rPr sz="1350" b="0">
                <a:solidFill>
                  <a:srgbClr val="202534"/>
                </a:solidFill>
              </a:rPr>
              <a:t>routing, timing, fulfillment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D663F-2EDD-442E-B4A1-B16B116B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534"/>
                </a:solidFill>
              </a:defRPr>
            </a:pPr>
            <a:r>
              <a:rPr sz="1350" b="0">
                <a:solidFill>
                  <a:srgbClr val="202534"/>
                </a:solidFill>
              </a:rPr>
              <a:t>Data</a:t>
            </a:r>
          </a:p>
          <a:p xmlns:a="http://schemas.openxmlformats.org/drawingml/2006/main">
            <a:pPr algn="ctr">
              <a:defRPr sz="1350" b="0">
                <a:solidFill>
                  <a:srgbClr val="202534"/>
                </a:solidFill>
              </a:defRPr>
            </a:pPr>
            <a:r>
              <a:rPr sz="1350" b="0">
                <a:solidFill>
                  <a:srgbClr val="202534"/>
                </a:solidFill>
              </a:rPr>
              <a:t>sales, labor, inventory, reporting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3A9B1-C7EF-4EC1-B0EA-CA4FD253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If the POS is unstable, fragmented, or changing, payments becomes strategically exposed.</a:t>
            </a:r>
          </a:p>
        </p:txBody>
      </p:sp>
    </p:spTree>
    <p:extLst>
      <p:ext uri="{BB962C8B-B14F-4D97-AF65-F5344CB8AC3E}">
        <p14:creationId xmlns:p14="http://schemas.microsoft.com/office/powerpoint/2010/main" val="6013379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743DE-3A82-41D3-8BF6-6145356B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B"/>
                </a:solidFill>
              </a:defRPr>
            </a:pPr>
            <a:r>
              <a:rPr sz="1050" b="1">
                <a:solidFill>
                  <a:srgbClr val="0B5CAB"/>
                </a:solidFill>
              </a:rPr>
              <a:t>WORLDPAY RM EDUCATION | 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157A0-13A3-47EB-AD12-2845937A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Restaurant demand enters through more channels than the counter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8DDC5-EA9D-42DF-BA98-19EF9A18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9E34F-10A8-4ADF-8493-0795BE06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817A7-0C3D-4378-976C-1626E6A1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DB741-6BE9-4765-9A2A-5F9CA357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Counter POS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509DD-6BB4-49BE-8FBD-4631ADDB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Drive-thru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A39B9-8D6D-4FB3-93A9-01F03772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Kiosk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179D6-5E73-42AF-A8FA-FB2AA0C1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Handheld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02B5D-7350-4BA3-8300-4A0B7B0B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Online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EFBA0-F419-4CEB-B815-6FDA056F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002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66D71-CF52-46E3-B7B6-74D33CBF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00A6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534"/>
                </a:solidFill>
              </a:defRPr>
            </a:pPr>
            <a:r>
              <a:rPr sz="1500" b="1">
                <a:solidFill>
                  <a:srgbClr val="202534"/>
                </a:solidFill>
              </a:rPr>
              <a:t>POS</a:t>
            </a:r>
          </a:p>
          <a:p xmlns:a="http://schemas.openxmlformats.org/drawingml/2006/main">
            <a:pPr algn="ctr">
              <a:defRPr sz="1500" b="1">
                <a:solidFill>
                  <a:srgbClr val="202534"/>
                </a:solidFill>
              </a:defRPr>
            </a:pPr>
            <a:r>
              <a:rPr sz="1500" b="1">
                <a:solidFill>
                  <a:srgbClr val="202534"/>
                </a:solidFill>
              </a:rPr>
              <a:t>captures the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9DA5A-9D8A-4C75-A894-F3042D71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147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534"/>
                </a:solidFill>
              </a:defRPr>
            </a:pPr>
            <a:r>
              <a:rPr sz="1500" b="1">
                <a:solidFill>
                  <a:srgbClr val="202534"/>
                </a:solidFill>
              </a:rPr>
              <a:t>Payment</a:t>
            </a:r>
          </a:p>
          <a:p xmlns:a="http://schemas.openxmlformats.org/drawingml/2006/main">
            <a:pPr algn="ctr">
              <a:defRPr sz="1500" b="1">
                <a:solidFill>
                  <a:srgbClr val="202534"/>
                </a:solidFill>
              </a:defRPr>
            </a:pPr>
            <a:r>
              <a:rPr sz="1500" b="1">
                <a:solidFill>
                  <a:srgbClr val="202534"/>
                </a:solidFill>
              </a:rPr>
              <a:t>authorizes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DF43C-C1A0-4A99-94AB-FB5246AE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534"/>
                </a:solidFill>
              </a:defRPr>
            </a:pPr>
            <a:r>
              <a:rPr sz="1500" b="1">
                <a:solidFill>
                  <a:srgbClr val="202534"/>
                </a:solidFill>
              </a:rPr>
              <a:t>KDS</a:t>
            </a:r>
          </a:p>
          <a:p xmlns:a="http://schemas.openxmlformats.org/drawingml/2006/main">
            <a:pPr algn="ctr">
              <a:defRPr sz="1500" b="1">
                <a:solidFill>
                  <a:srgbClr val="202534"/>
                </a:solidFill>
              </a:defRPr>
            </a:pPr>
            <a:r>
              <a:rPr sz="1500" b="1">
                <a:solidFill>
                  <a:srgbClr val="202534"/>
                </a:solidFill>
              </a:rPr>
              <a:t>routes 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6987D-5365-49FE-9DE6-2280680B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534"/>
                </a:solidFill>
              </a:defRPr>
            </a:pPr>
            <a:r>
              <a:rPr sz="1500" b="1">
                <a:solidFill>
                  <a:srgbClr val="202534"/>
                </a:solidFill>
              </a:rPr>
              <a:t>Reporting</a:t>
            </a:r>
          </a:p>
          <a:p xmlns:a="http://schemas.openxmlformats.org/drawingml/2006/main">
            <a:pPr algn="ctr">
              <a:defRPr sz="1500" b="1">
                <a:solidFill>
                  <a:srgbClr val="202534"/>
                </a:solidFill>
              </a:defRPr>
            </a:pPr>
            <a:r>
              <a:rPr sz="1500" b="1">
                <a:solidFill>
                  <a:srgbClr val="202534"/>
                </a:solidFill>
              </a:rPr>
              <a:t>reconciles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2F915-3DCC-49D0-92E3-C86B79E3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57800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RM signal: fragmented channels often create payments, support, and reporting pain.</a:t>
            </a:r>
          </a:p>
        </p:txBody>
      </p:sp>
    </p:spTree>
    <p:extLst>
      <p:ext uri="{BB962C8B-B14F-4D97-AF65-F5344CB8AC3E}">
        <p14:creationId xmlns:p14="http://schemas.microsoft.com/office/powerpoint/2010/main" val="7620933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11E57-E19C-483D-96F4-EC0C03A1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B"/>
                </a:solidFill>
              </a:defRPr>
            </a:pPr>
            <a:r>
              <a:rPr sz="1050" b="1">
                <a:solidFill>
                  <a:srgbClr val="0B5CAB"/>
                </a:solidFill>
              </a:rPr>
              <a:t>WORLDPAY RM EDUCATION | 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7BF87-3CDE-404E-92FF-18AF271B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Corporate and store teams judge POS differently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A15A6-5A1C-499C-9CD5-3EFE27AA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D3993-53E4-4DD3-9147-E1AFE9E9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868A4-E9AF-49F2-A73E-81801810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565D9-2689-4B46-AABC-F31B3CDA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B"/>
          </a:solidFill>
          <a:ln xmlns:a="http://schemas.openxmlformats.org/drawingml/2006/main" w="0">
            <a:solidFill>
              <a:srgbClr val="0B5C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6DEFE-0C38-4A9A-A88E-17A63E24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Corporate wants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CF64B-DCD6-4E1D-90B7-F9F60CD0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457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top-line sales enhanced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a tangible system win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reduced franchisee noise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standardization and visibility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rollout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816CF-AAE9-49C2-806D-358270D4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D"/>
          </a:solidFill>
          <a:ln xmlns:a="http://schemas.openxmlformats.org/drawingml/2006/main" w="0">
            <a:solidFill>
              <a:srgbClr val="C66A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22F2C-F9FC-41F1-ADBD-631BBD16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Store operators want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A535F-74B2-4F51-B0D1-BAA2D86B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457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speed during rush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uptime and offline resilience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easy staff training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clear support ownership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fewer awkward workarounds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5F401-B5D7-4E4E-9E51-53BF2DD9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81625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A strong POS story has to create corporate proof without creating store-level noise.</a:t>
            </a:r>
          </a:p>
        </p:txBody>
      </p:sp>
    </p:spTree>
    <p:extLst>
      <p:ext uri="{BB962C8B-B14F-4D97-AF65-F5344CB8AC3E}">
        <p14:creationId xmlns:p14="http://schemas.microsoft.com/office/powerpoint/2010/main" val="16589598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8EE7B-D48F-4151-9206-F9D0B0DF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B"/>
                </a:solidFill>
              </a:defRPr>
            </a:pPr>
            <a:r>
              <a:rPr sz="1050" b="1">
                <a:solidFill>
                  <a:srgbClr val="0B5CAB"/>
                </a:solidFill>
              </a:rPr>
              <a:t>WORLDPAY RM EDUCATION | 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B6B38-091B-4F2C-AC92-3F1267A6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Genius POS is one part of a broader restaurant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6C683-D01E-43AE-AD03-5F88626E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188B6-2A9E-40DF-A272-29A7480D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EB2EA-70C6-4AC1-9379-3A6D6B24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7DF5E-3D26-45EF-BDD9-BE973344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00A6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Commerce core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POS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menu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modifiers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pricing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EE4C7-EA90-4BA5-B7AB-4254F26C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Payment path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integrated payment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refunds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settlement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00CD9-149C-4420-AC0C-1A20C47F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9550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Production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KDS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kitchen routing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prep timing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expo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D3EAC-A15E-4EBA-8996-0CB55F98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Service formats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counter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handheld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kiosk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drive-thru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food truck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D08D7-4071-4D5D-A0C2-A37C0E72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Enterprise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deployment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support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MDM</a:t>
            </a:r>
          </a:p>
          <a:p xmlns:a="http://schemas.openxmlformats.org/drawingml/2006/main">
            <a:pPr algn="ctr">
              <a:defRPr sz="1350" b="1">
                <a:solidFill>
                  <a:srgbClr val="202534"/>
                </a:solidFill>
              </a:defRPr>
            </a:pPr>
            <a:r>
              <a:rPr sz="1350" b="1">
                <a:solidFill>
                  <a:srgbClr val="202534"/>
                </a:solidFill>
              </a:rPr>
              <a:t>visibility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59278-5EF1-49A6-97E4-5900E171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Lead with the business problem, then map which Genius pieces fit.</a:t>
            </a:r>
          </a:p>
        </p:txBody>
      </p:sp>
    </p:spTree>
    <p:extLst>
      <p:ext uri="{BB962C8B-B14F-4D97-AF65-F5344CB8AC3E}">
        <p14:creationId xmlns:p14="http://schemas.microsoft.com/office/powerpoint/2010/main" val="20485633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D78CD-A37C-4156-9CEA-4717AD01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B"/>
                </a:solidFill>
              </a:defRPr>
            </a:pPr>
            <a:r>
              <a:rPr sz="1050" b="1">
                <a:solidFill>
                  <a:srgbClr val="0B5CAB"/>
                </a:solidFill>
              </a:rPr>
              <a:t>WORLDPAY RM EDUCATION | 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DB1C6-69BD-4065-A921-520B289E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Hardware matters because software has to survive the restaurant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E23D1-4EBB-4BF6-9403-13E3AAA5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01B5F-4C49-4F6A-BB50-9488361F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E7E45-21E8-464D-BECC-85193FA6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7E0AF-4E1A-4D7F-A433-FA73E915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B"/>
          </a:solidFill>
          <a:ln xmlns:a="http://schemas.openxmlformats.org/drawingml/2006/main" w="0">
            <a:solidFill>
              <a:srgbClr val="0B5C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0E6B0-335D-4ED6-9267-9C3F967C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Fixed POS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A10D8-2282-43C9-B120-28B33F44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304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front-counter terminal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customer-facing display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integrated payment device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receipt printer and peripherals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40D28-C8C3-4B81-80B9-9B9DB8C1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F6D"/>
          </a:solidFill>
          <a:ln xmlns:a="http://schemas.openxmlformats.org/drawingml/2006/main" w="0">
            <a:solidFill>
              <a:srgbClr val="178F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92C14-8B93-44AD-ACAD-C9207B3E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Mobile POS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7685A-7B0A-4191-9385-4203DB0B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304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handheld order taking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line busting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patio/event workflows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drive-thru overflow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8E87D-7275-44D2-A2BA-87958C85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D"/>
          </a:solidFill>
          <a:ln xmlns:a="http://schemas.openxmlformats.org/drawingml/2006/main" w="0">
            <a:solidFill>
              <a:srgbClr val="C66A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8509B-78C8-4CF8-B0AD-F647604B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Kitchen / format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ED898-56E5-4C1A-A5C4-4F9A8D30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304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KDS tablets or screens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mounting kits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network resilience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food-truck or semi-outdoor needs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47CD7-5521-4811-BC72-E6006907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81625"/>
            <a:ext cx="994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The hardware question is not “device cost.” It is uptime, fit, supportability, and rollout repeatability.</a:t>
            </a:r>
          </a:p>
        </p:txBody>
      </p:sp>
    </p:spTree>
    <p:extLst>
      <p:ext uri="{BB962C8B-B14F-4D97-AF65-F5344CB8AC3E}">
        <p14:creationId xmlns:p14="http://schemas.microsoft.com/office/powerpoint/2010/main" val="10587945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7BEE1-88C8-41CD-A4A3-25560855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B"/>
                </a:solidFill>
              </a:defRPr>
            </a:pPr>
            <a:r>
              <a:rPr sz="1050" b="1">
                <a:solidFill>
                  <a:srgbClr val="0B5CAB"/>
                </a:solidFill>
              </a:rPr>
              <a:t>WORLDPAY RM EDUCATION | 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59BB0-5796-434F-8126-78DF57CB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Competitors often sell POS as a bundled land grab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54A09-C62A-4FAB-B3BA-8949E6E4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E0B9D-CCBF-4175-AA61-9FB02777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9E138-A4DD-41DC-876E-FB364B3E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9A2CF-5D1A-4C29-8DB0-20F760EE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D"/>
          </a:solidFill>
          <a:ln xmlns:a="http://schemas.openxmlformats.org/drawingml/2006/main" w="0">
            <a:solidFill>
              <a:srgbClr val="C66A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918AA-7176-48EF-9376-233AA11C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What competitors may 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8E32C-78DA-4646-8A93-922AD044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457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free hardware that is not really free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payments lock-in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bundled adjacent products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switching friction as leverage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1C49B-27C6-4518-95D2-AF60A0B2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B"/>
          </a:solidFill>
          <a:ln xmlns:a="http://schemas.openxmlformats.org/drawingml/2006/main" w="0">
            <a:solidFill>
              <a:srgbClr val="0B5CA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C24FF-65A8-4A5B-B08A-E6D154A7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Worldpay + Genius posture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C9165-936F-49DC-A5D9-03217316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457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diagnose the customer's pain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educate on available choices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show where payments fits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recommend the right next step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earn the right to expand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3A463-6590-4FB7-8592-54784F2A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We value choice. We do not strong-arm customers into buying more from us.</a:t>
            </a:r>
          </a:p>
        </p:txBody>
      </p:sp>
    </p:spTree>
    <p:extLst>
      <p:ext uri="{BB962C8B-B14F-4D97-AF65-F5344CB8AC3E}">
        <p14:creationId xmlns:p14="http://schemas.microsoft.com/office/powerpoint/2010/main" val="15264382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46F9B-2A34-4957-AE86-8E953BFC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B"/>
                </a:solidFill>
              </a:defRPr>
            </a:pPr>
            <a:r>
              <a:rPr sz="1050" b="1">
                <a:solidFill>
                  <a:srgbClr val="0B5CAB"/>
                </a:solidFill>
              </a:rPr>
              <a:t>WORLDPAY RM EDUCATION | 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8E05F-4930-438F-9ACE-1E3755BE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A POS opportunity usually starts with a trigger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76F9B-2FD0-4754-B034-DA8C3603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A9582-494B-42AE-8B23-022A44A8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5D25E-E426-4303-97B4-238F5B01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E313D-F0E6-4721-9FB9-A8EA0CA6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B"/>
          </a:solidFill>
          <a:ln xmlns:a="http://schemas.openxmlformats.org/drawingml/2006/main" w="0">
            <a:solidFill>
              <a:srgbClr val="0B5C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745B4-6258-49B2-ACE1-1C988552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52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Change triggers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5D874-49C8-4F8D-AB9D-2F1D0BA7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304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contract renewal or RFP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acquisition or expansion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new format: truck, kiosk, drive-thru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migration from legacy 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62615-8FD6-4D7C-AAB9-9445AF5B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D"/>
          </a:solidFill>
          <a:ln xmlns:a="http://schemas.openxmlformats.org/drawingml/2006/main" w="0">
            <a:solidFill>
              <a:srgbClr val="C66A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41E86-71F2-4FB0-8C91-A6B8DB1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Pain triggers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98DED-4247-4D6A-8802-9861E9A9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304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support finger-pointing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reporting does not tie out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franchisee noise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downtime or slow transactions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328B5-B5F8-4331-902A-1DADD6E4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F6D"/>
          </a:solidFill>
          <a:ln xmlns:a="http://schemas.openxmlformats.org/drawingml/2006/main" w="0">
            <a:solidFill>
              <a:srgbClr val="178F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F6690-3201-4789-80D9-401A2D2C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Strategy triggers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4FA4A-6991-4136-85C3-29A0EF30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28875"/>
            <a:ext cx="304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payments consolidation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digital-order growth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need for rollout speed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standardized hardware estate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1553D-FE07-4A8B-8080-9E648A7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81625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The RM should capture the trigger before asking for a Genius demo.</a:t>
            </a:r>
          </a:p>
        </p:txBody>
      </p:sp>
    </p:spTree>
    <p:extLst>
      <p:ext uri="{BB962C8B-B14F-4D97-AF65-F5344CB8AC3E}">
        <p14:creationId xmlns:p14="http://schemas.microsoft.com/office/powerpoint/2010/main" val="18446461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9DB7A-861D-4375-B1F1-DAB75919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B"/>
                </a:solidFill>
              </a:defRPr>
            </a:pPr>
            <a:r>
              <a:rPr sz="1050" b="1">
                <a:solidFill>
                  <a:srgbClr val="0B5CAB"/>
                </a:solidFill>
              </a:rPr>
              <a:t>WORLDPAY RM EDUCATION | 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DC5E9-161E-437C-8244-C2CD2C5C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Five discovery questions make the handoff useful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EFD59-7E33-42EC-9F9E-548BB995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5E512-E21C-45EC-97DD-0D42026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AFBA3-DE73-4BF5-9543-724364CA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AB564-9348-4F12-903D-CB96C5CF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05000"/>
            <a:ext cx="9810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534"/>
                </a:solidFill>
              </a:defRPr>
            </a:pPr>
            <a:r>
              <a:rPr sz="1800" b="0">
                <a:solidFill>
                  <a:srgbClr val="202534"/>
                </a:solidFill>
              </a:rPr>
              <a:t>1. What POS do you run today, and is it consistent across the system?</a:t>
            </a:r>
          </a:p>
          <a:p xmlns:a="http://schemas.openxmlformats.org/drawingml/2006/main">
            <a:pPr algn="l">
              <a:defRPr sz="1800" b="0">
                <a:solidFill>
                  <a:srgbClr val="202534"/>
                </a:solidFill>
              </a:defRPr>
            </a:pPr>
            <a:r>
              <a:rPr sz="1800" b="0">
                <a:solidFill>
                  <a:srgbClr val="202534"/>
                </a:solidFill>
              </a:rPr>
              <a:t>2. Where do in-store, online, kiosk, drive-thru, and delivery orders enter?</a:t>
            </a:r>
          </a:p>
          <a:p xmlns:a="http://schemas.openxmlformats.org/drawingml/2006/main">
            <a:pPr algn="l">
              <a:defRPr sz="1800" b="0">
                <a:solidFill>
                  <a:srgbClr val="202534"/>
                </a:solidFill>
              </a:defRPr>
            </a:pPr>
            <a:r>
              <a:rPr sz="1800" b="0">
                <a:solidFill>
                  <a:srgbClr val="202534"/>
                </a:solidFill>
              </a:rPr>
              <a:t>3. Who processes each payment path, and what is split today?</a:t>
            </a:r>
          </a:p>
          <a:p xmlns:a="http://schemas.openxmlformats.org/drawingml/2006/main">
            <a:pPr algn="l">
              <a:defRPr sz="1800" b="0">
                <a:solidFill>
                  <a:srgbClr val="202534"/>
                </a:solidFill>
              </a:defRPr>
            </a:pPr>
            <a:r>
              <a:rPr sz="1800" b="0">
                <a:solidFill>
                  <a:srgbClr val="202534"/>
                </a:solidFill>
              </a:rPr>
              <a:t>4. What breaks during rush, outage, rollout, or reconciliation?</a:t>
            </a:r>
          </a:p>
          <a:p xmlns:a="http://schemas.openxmlformats.org/drawingml/2006/main">
            <a:pPr algn="l">
              <a:defRPr sz="1800" b="0">
                <a:solidFill>
                  <a:srgbClr val="202534"/>
                </a:solidFill>
              </a:defRPr>
            </a:pPr>
            <a:r>
              <a:rPr sz="1800" b="0">
                <a:solidFill>
                  <a:srgbClr val="202534"/>
                </a:solidFill>
              </a:rPr>
              <a:t>5. Who owns the decision: IT, operations, finance, procurement, or franchisees?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B7559-D428-4942-863E-8662CFA4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81625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Good discovery creates a better first Genius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8077871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56FF1-E16C-4A31-BBBE-C43D53A9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B"/>
                </a:solidFill>
              </a:defRPr>
            </a:pPr>
            <a:r>
              <a:rPr sz="1050" b="1">
                <a:solidFill>
                  <a:srgbClr val="0B5CAB"/>
                </a:solidFill>
              </a:rPr>
              <a:t>WORLDPAY RM EDUCATION | 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22903-1F22-407C-975C-10A97D4A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What a good RM handoff to Genius includes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83937-E105-41EF-B5C7-14FF9296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FC3FD-5255-4FDD-B8E5-C219A74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06F2B-0C05-4757-AF29-92996398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A981F-5E30-491B-A120-70D543A1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B"/>
          </a:solidFill>
          <a:ln xmlns:a="http://schemas.openxmlformats.org/drawingml/2006/main" w="0">
            <a:solidFill>
              <a:srgbClr val="0B5CA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F15F6-7795-4647-BC62-2E68C431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Minimum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3ABB7-9384-49B4-9104-CF2A675B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457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brand and store count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current POS and payments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known digital/order channels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trigger and timing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stakeholders and next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E3568-82A9-4B3C-8D46-D641B5C8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F6D"/>
          </a:solidFill>
          <a:ln xmlns:a="http://schemas.openxmlformats.org/drawingml/2006/main" w="0">
            <a:solidFill>
              <a:srgbClr val="178F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144D7-35F8-4457-9EE5-FFE1011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Better handoff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103B1-2657-4B92-9F9E-B9287022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457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current pain in operator language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what corporate wants to prove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what stores are complaining about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contract/RFP clock</a:t>
            </a:r>
          </a:p>
          <a:p xmlns:a="http://schemas.openxmlformats.org/drawingml/2006/main">
            <a:pPr algn="l">
              <a:defRPr sz="1500" b="0">
                <a:solidFill>
                  <a:srgbClr val="202534"/>
                </a:solidFill>
              </a:defRPr>
            </a:pPr>
            <a:r>
              <a:rPr sz="1500" b="0">
                <a:solidFill>
                  <a:srgbClr val="202534"/>
                </a:solidFill>
              </a:rPr>
              <a:t>- competitive pressure or incumbent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06978-8729-4C6B-BE91-B9716D95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81625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Do not hand off only “they want to look at POS.” Hand off the business reason.</a:t>
            </a:r>
          </a:p>
        </p:txBody>
      </p:sp>
    </p:spTree>
    <p:extLst>
      <p:ext uri="{BB962C8B-B14F-4D97-AF65-F5344CB8AC3E}">
        <p14:creationId xmlns:p14="http://schemas.microsoft.com/office/powerpoint/2010/main" val="2128222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7CA19-6DF4-4514-88B6-68C00AA0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CAB"/>
                </a:solidFill>
              </a:defRPr>
            </a:pPr>
            <a:r>
              <a:rPr sz="1050" b="1">
                <a:solidFill>
                  <a:srgbClr val="0B5CAB"/>
                </a:solidFill>
              </a:rPr>
              <a:t>WORLDPAY RM EDUCATION | POS #1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97612-F13C-4AE4-BB46-2EC42F32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Close: POS fluency helps RMs protect and expand the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BAC40-524B-48C4-9136-93CFD1DA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3482A-9976-4D0D-A16D-1C07C132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3E780-047C-4487-9B44-C75977A6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8B144-BF08-45B7-BEAE-4FA033A5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5CAB"/>
                </a:solidFill>
              </a:defRPr>
            </a:pPr>
            <a:r>
              <a:rPr sz="1950" b="1">
                <a:solidFill>
                  <a:srgbClr val="0B5CAB"/>
                </a:solidFill>
              </a:rPr>
              <a:t>The practical 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88639-456D-4C0B-B64C-3B5DC31F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914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When a merchant talks about POS, they are often talking about speed, uptime, staffing, reporting, digital orders, franchisee noise, and payment economics at the same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B2850-B6F1-4A17-B831-BC642680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7675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534"/>
                </a:solidFill>
              </a:defRPr>
            </a:pPr>
            <a:r>
              <a:rPr sz="1650" b="0">
                <a:solidFill>
                  <a:srgbClr val="202534"/>
                </a:solidFill>
              </a:rPr>
              <a:t>Next session: the POS workflow in more detail: menus, modifiers, tenders, routing, refunds, and reporting.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55619-CB36-4AB0-A898-430382F6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34000"/>
            <a:ext cx="910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5CAB"/>
                </a:solidFill>
              </a:defRPr>
            </a:pPr>
            <a:r>
              <a:rPr sz="1800" b="1">
                <a:solidFill>
                  <a:srgbClr val="0B5CAB"/>
                </a:solidFill>
              </a:rPr>
              <a:t>Q&amp;A: What would you ask before bringing Genius into one of your accounts?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09B9B-7848-4380-8722-7B2053C8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456BE-1857-4142-B334-0CD3716F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Worldpay RM Education | POS #1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08942-EEA5-4B41-9E8B-5744BDA2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5"/>
                </a:solidFill>
              </a:defRPr>
            </a:pPr>
            <a:r>
              <a:rPr sz="1050" b="0">
                <a:solidFill>
                  <a:srgbClr val="5E667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85071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2026-08-31T13:10:19.5590000Z</dcterms:created>
  <dcterms:modified xsi:type="dcterms:W3CDTF">2026-08-31T13:10:19.5590000Z</dcterms:modified>
</coreProperties>
</file>