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793fb8f3934e0e" /><Relationship Type="http://schemas.openxmlformats.org/officeDocument/2006/relationships/extended-properties" Target="/docProps/app.xml" Id="Rbafb610db6c14552" /><Relationship Type="http://schemas.openxmlformats.org/officeDocument/2006/relationships/officeDocument" Target="/ppt/presentation.xml" Id="Rd43ae79520704cfb" /></Relationships>
</file>

<file path=ppt/presentation.xml><?xml version="1.0" encoding="utf-8"?>
<p:presentation xmlns:p="http://schemas.openxmlformats.org/presentationml/2006/main">
  <p:sldMasterIdLst>
    <p:sldMasterId xmlns:r="http://schemas.openxmlformats.org/officeDocument/2006/relationships" id="2147483648" r:id="R693b22daec754d8f"/>
  </p:sldMasterIdLst>
  <p:notesMasterIdLst>
    <p:notesMasterId xmlns:r="http://schemas.openxmlformats.org/officeDocument/2006/relationships" r:id="Rca9b2143c4fb452b"/>
  </p:notesMasterIdLst>
  <p:sldIdLst>
    <p:sldId xmlns:r="http://schemas.openxmlformats.org/officeDocument/2006/relationships" id="256" r:id="R3020acbe1ad14457"/>
    <p:sldId xmlns:r="http://schemas.openxmlformats.org/officeDocument/2006/relationships" id="257" r:id="R8a252aed6cac442a"/>
    <p:sldId xmlns:r="http://schemas.openxmlformats.org/officeDocument/2006/relationships" id="258" r:id="R418d5da9ef354f01"/>
    <p:sldId xmlns:r="http://schemas.openxmlformats.org/officeDocument/2006/relationships" id="259" r:id="R90c22308019e4c31"/>
    <p:sldId xmlns:r="http://schemas.openxmlformats.org/officeDocument/2006/relationships" id="260" r:id="R5c2f89fe40354120"/>
    <p:sldId xmlns:r="http://schemas.openxmlformats.org/officeDocument/2006/relationships" id="261" r:id="Rcce826dec0db4360"/>
    <p:sldId xmlns:r="http://schemas.openxmlformats.org/officeDocument/2006/relationships" id="262" r:id="R30d25f4519674823"/>
    <p:sldId xmlns:r="http://schemas.openxmlformats.org/officeDocument/2006/relationships" id="263" r:id="Rcddd2e3624fe4222"/>
    <p:sldId xmlns:r="http://schemas.openxmlformats.org/officeDocument/2006/relationships" id="264" r:id="R6bf13b0fa33c4f6d"/>
    <p:sldId xmlns:r="http://schemas.openxmlformats.org/officeDocument/2006/relationships" id="265" r:id="R9921e4d371d14538"/>
    <p:sldId xmlns:r="http://schemas.openxmlformats.org/officeDocument/2006/relationships" id="266" r:id="R6fc39e475db44686"/>
    <p:sldId xmlns:r="http://schemas.openxmlformats.org/officeDocument/2006/relationships" id="267" r:id="R83b45a6ec8444362"/>
    <p:sldId xmlns:r="http://schemas.openxmlformats.org/officeDocument/2006/relationships" id="268" r:id="R0e78d0bda3de4027"/>
    <p:sldId xmlns:r="http://schemas.openxmlformats.org/officeDocument/2006/relationships" id="269" r:id="Rdfa7bb2ad7184c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95e39c85504209" /><Relationship Type="http://schemas.openxmlformats.org/officeDocument/2006/relationships/slideMaster" Target="/ppt/slideMasters/slideMaster1.xml" Id="R693b22daec754d8f" /><Relationship Type="http://schemas.openxmlformats.org/officeDocument/2006/relationships/notesMaster" Target="/ppt/notesMasters/notesMaster1.xml" Id="Rca9b2143c4fb452b" /><Relationship Type="http://schemas.openxmlformats.org/officeDocument/2006/relationships/presProps" Target="/ppt/presProps.xml" Id="Rbb16dc062f864aa5" /><Relationship Type="http://schemas.openxmlformats.org/officeDocument/2006/relationships/tableStyles" Target="/ppt/tableStyles.xml" Id="R3ea5e59f8dfd4f4d" /><Relationship Type="http://schemas.openxmlformats.org/officeDocument/2006/relationships/slide" Target="/ppt/slides/slide1.xml" Id="R3020acbe1ad14457" /><Relationship Type="http://schemas.openxmlformats.org/officeDocument/2006/relationships/slide" Target="/ppt/slides/slide2.xml" Id="R8a252aed6cac442a" /><Relationship Type="http://schemas.openxmlformats.org/officeDocument/2006/relationships/slide" Target="/ppt/slides/slide3.xml" Id="R418d5da9ef354f01" /><Relationship Type="http://schemas.openxmlformats.org/officeDocument/2006/relationships/slide" Target="/ppt/slides/slide4.xml" Id="R90c22308019e4c31" /><Relationship Type="http://schemas.openxmlformats.org/officeDocument/2006/relationships/slide" Target="/ppt/slides/slide5.xml" Id="R5c2f89fe40354120" /><Relationship Type="http://schemas.openxmlformats.org/officeDocument/2006/relationships/slide" Target="/ppt/slides/slide6.xml" Id="Rcce826dec0db4360" /><Relationship Type="http://schemas.openxmlformats.org/officeDocument/2006/relationships/slide" Target="/ppt/slides/slide7.xml" Id="R30d25f4519674823" /><Relationship Type="http://schemas.openxmlformats.org/officeDocument/2006/relationships/slide" Target="/ppt/slides/slide8.xml" Id="Rcddd2e3624fe4222" /><Relationship Type="http://schemas.openxmlformats.org/officeDocument/2006/relationships/slide" Target="/ppt/slides/slide9.xml" Id="R6bf13b0fa33c4f6d" /><Relationship Type="http://schemas.openxmlformats.org/officeDocument/2006/relationships/slide" Target="/ppt/slides/slide10.xml" Id="R9921e4d371d14538" /><Relationship Type="http://schemas.openxmlformats.org/officeDocument/2006/relationships/slide" Target="/ppt/slides/slide11.xml" Id="R6fc39e475db44686" /><Relationship Type="http://schemas.openxmlformats.org/officeDocument/2006/relationships/slide" Target="/ppt/slides/slide12.xml" Id="R83b45a6ec8444362" /><Relationship Type="http://schemas.openxmlformats.org/officeDocument/2006/relationships/slide" Target="/ppt/slides/slide13.xml" Id="R0e78d0bda3de4027" /><Relationship Type="http://schemas.openxmlformats.org/officeDocument/2006/relationships/slide" Target="/ppt/slides/slide14.xml" Id="Rdfa7bb2ad7184c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6ed273950f48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1ae96ec0e84265" /><Relationship Type="http://schemas.openxmlformats.org/officeDocument/2006/relationships/notesMaster" Target="/ppt/notesMasters/notesMaster1.xml" Id="Rbcdbb303588645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2eedef61f949cd" /><Relationship Type="http://schemas.openxmlformats.org/officeDocument/2006/relationships/notesMaster" Target="/ppt/notesMasters/notesMaster1.xml" Id="R09ec5e66b6f246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3684a3cb474afa" /><Relationship Type="http://schemas.openxmlformats.org/officeDocument/2006/relationships/notesMaster" Target="/ppt/notesMasters/notesMaster1.xml" Id="R884491d7a10b40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8102629644e4a" /><Relationship Type="http://schemas.openxmlformats.org/officeDocument/2006/relationships/notesMaster" Target="/ppt/notesMasters/notesMaster1.xml" Id="R70e270c052e440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bde68a96ef4e69" /><Relationship Type="http://schemas.openxmlformats.org/officeDocument/2006/relationships/notesMaster" Target="/ppt/notesMasters/notesMaster1.xml" Id="Ra9507c2f4c9b40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bf2fed98ab41cc" /><Relationship Type="http://schemas.openxmlformats.org/officeDocument/2006/relationships/notesMaster" Target="/ppt/notesMasters/notesMaster1.xml" Id="R5f990f54f8bc4c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3a3a1af9724ee4" /><Relationship Type="http://schemas.openxmlformats.org/officeDocument/2006/relationships/notesMaster" Target="/ppt/notesMasters/notesMaster1.xml" Id="R519820737f0748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8680ec2b9140b2" /><Relationship Type="http://schemas.openxmlformats.org/officeDocument/2006/relationships/notesMaster" Target="/ppt/notesMasters/notesMaster1.xml" Id="R0241ffb4a2cd4d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f71e325f4a479d" /><Relationship Type="http://schemas.openxmlformats.org/officeDocument/2006/relationships/notesMaster" Target="/ppt/notesMasters/notesMaster1.xml" Id="Rbcb2e4432f0246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08ef0eadd542ef" /><Relationship Type="http://schemas.openxmlformats.org/officeDocument/2006/relationships/notesMaster" Target="/ppt/notesMasters/notesMaster1.xml" Id="R14b4a05a0a4445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23ecb4580543c2" /><Relationship Type="http://schemas.openxmlformats.org/officeDocument/2006/relationships/notesMaster" Target="/ppt/notesMasters/notesMaster1.xml" Id="Ra89e0489a7d64f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a3f13b483e425d" /><Relationship Type="http://schemas.openxmlformats.org/officeDocument/2006/relationships/notesMaster" Target="/ppt/notesMasters/notesMaster1.xml" Id="R92f86a3a76a347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efc44e67a9472f" /><Relationship Type="http://schemas.openxmlformats.org/officeDocument/2006/relationships/notesMaster" Target="/ppt/notesMasters/notesMaster1.xml" Id="Red636e2371754c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78622e361b448e" /><Relationship Type="http://schemas.openxmlformats.org/officeDocument/2006/relationships/notesMaster" Target="/ppt/notesMasters/notesMaster1.xml" Id="Re40a286078ed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anchoring the audience: this is for RMs who already understand payments. We are teaching the restaurant operating context around payments.</a:t>
            </a:r>
          </a:p>
          <a:p xmlns:a="http://schemas.openxmlformats.org/drawingml/2006/main">
            <a:r>
              <a:t/>
            </a:r>
          </a:p>
          <a:p xmlns:a="http://schemas.openxmlformats.org/drawingml/2006/main">
            <a:r>
              <a:t>[Sources]</a:t>
            </a:r>
          </a:p>
          <a:p xmlns:a="http://schemas.openxmlformats.org/drawingml/2006/main">
            <a:r>
              <a:t>Course 001 markdown training draft.</a:t>
            </a:r>
          </a:p>
          <a:p xmlns:a="http://schemas.openxmlformats.org/drawingml/2006/main">
            <a:r>
              <a:t>Enterprise Restaurant Platform Intelligence Framework 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reset the mental model. The RM does not need to sell all layers. They need to recognize when the merchant is actually talking about operating-platform pressure.</a:t>
            </a:r>
          </a:p>
          <a:p xmlns:a="http://schemas.openxmlformats.org/drawingml/2006/main">
            <a:r>
              <a:t/>
            </a:r>
          </a:p>
          <a:p xmlns:a="http://schemas.openxmlformats.org/drawingml/2006/main">
            <a:r>
              <a:t>[Sources]</a:t>
            </a:r>
          </a:p>
          <a:p xmlns:a="http://schemas.openxmlformats.org/drawingml/2006/main">
            <a:r>
              <a:t>Enterprise Restaurant Platform Intelligence Framework v1, slide: The Market Has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training guardrail. RMs should understand the ecosystem so they can identify pain and offer credible options. The goal is not to use payment relationships as leverage to force inferior products or services.</a:t>
            </a:r>
          </a:p>
          <a:p xmlns:a="http://schemas.openxmlformats.org/drawingml/2006/main">
            <a:r>
              <a:t/>
            </a:r>
          </a:p>
          <a:p xmlns:a="http://schemas.openxmlformats.org/drawingml/2006/main">
            <a:r>
              <a:t>[Sources]</a:t>
            </a:r>
          </a:p>
          <a:p xmlns:a="http://schemas.openxmlformats.org/drawingml/2006/main">
            <a:r>
              <a:t>Todd feedback, 2026-07-30.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Todd's POV here. Corporate buyers want a top-line story, a tangible system result, and low franchisee noise. Store and franchisee operators judge the platform by speed, uptime, training, support, and whether it helps the rush go better.</a:t>
            </a:r>
          </a:p>
          <a:p xmlns:a="http://schemas.openxmlformats.org/drawingml/2006/main">
            <a:r>
              <a:t/>
            </a:r>
          </a:p>
          <a:p xmlns:a="http://schemas.openxmlformats.org/drawingml/2006/main">
            <a:r>
              <a:t>[Sources]</a:t>
            </a:r>
          </a:p>
          <a:p xmlns:a="http://schemas.openxmlformats.org/drawingml/2006/main">
            <a:r>
              <a:t>Todd feedback, 2026-07-30.</a:t>
            </a:r>
          </a:p>
          <a:p xmlns:a="http://schemas.openxmlformats.org/drawingml/2006/main">
            <a:r>
              <a:t>2026 QSR / Global Payments Resilient Restaurant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simplified training version of the master pitch deck's full-suite functionality slide. Use it to establish breadth before teaching the parts.</a:t>
            </a:r>
          </a:p>
          <a:p xmlns:a="http://schemas.openxmlformats.org/drawingml/2006/main">
            <a:r>
              <a:t/>
            </a:r>
          </a:p>
          <a:p xmlns:a="http://schemas.openxmlformats.org/drawingml/2006/main">
            <a:r>
              <a:t>[Sources]</a:t>
            </a:r>
          </a:p>
          <a:p xmlns:a="http://schemas.openxmlformats.org/drawingml/2006/main">
            <a:r>
              <a:t>Genius - QSR Master Pitch Deck 1, slide 10: Providing a full suite of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adapts the stronger ecosystem story from the QSR master deck and IKEA deck. The visual point is that payments runs across growth and efficiency workflows.</a:t>
            </a:r>
          </a:p>
          <a:p xmlns:a="http://schemas.openxmlformats.org/drawingml/2006/main">
            <a:r>
              <a:t/>
            </a:r>
          </a:p>
          <a:p xmlns:a="http://schemas.openxmlformats.org/drawingml/2006/main">
            <a:r>
              <a:t>[Sources]</a:t>
            </a:r>
          </a:p>
          <a:p xmlns:a="http://schemas.openxmlformats.org/drawingml/2006/main">
            <a:r>
              <a:t>Genius - QSR Master Pitch Deck 1, slide 125: The ecosystem that delivers it all.</a:t>
            </a:r>
          </a:p>
          <a:p xmlns:a="http://schemas.openxmlformats.org/drawingml/2006/main">
            <a:r>
              <a:t>Genius POS for IKEA PDF, page 5: The ecosystem that delivers it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simplifies the QSR master deck's store-level slide into three operating zones RMs can remember.</a:t>
            </a:r>
          </a:p>
          <a:p xmlns:a="http://schemas.openxmlformats.org/drawingml/2006/main">
            <a:r>
              <a:t/>
            </a:r>
          </a:p>
          <a:p xmlns:a="http://schemas.openxmlformats.org/drawingml/2006/main">
            <a:r>
              <a:t>[Sources]</a:t>
            </a:r>
          </a:p>
          <a:p xmlns:a="http://schemas.openxmlformats.org/drawingml/2006/main">
            <a:r>
              <a:t>Genius - QSR Master Pitch Deck 1, slide 72: Genius Cloud Store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payments into restaurant tech. Add the missing channels explicitly: drive-thru, online orders, kiosks, delivery, loyalty, and KDS. Payment is critical, but it is one step in a multi-channel operating flow.</a:t>
            </a:r>
          </a:p>
          <a:p xmlns:a="http://schemas.openxmlformats.org/drawingml/2006/main">
            <a:r>
              <a:t/>
            </a:r>
          </a:p>
          <a:p xmlns:a="http://schemas.openxmlformats.org/drawingml/2006/main">
            <a:r>
              <a:t>[Sources]</a:t>
            </a:r>
          </a:p>
          <a:p xmlns:a="http://schemas.openxmlformats.org/drawingml/2006/main">
            <a:r>
              <a:t>Todd feedback, 2026-07-30.</a:t>
            </a:r>
          </a:p>
          <a:p xmlns:a="http://schemas.openxmlformats.org/drawingml/2006/main">
            <a:r>
              <a:t>Genius POS for IKEA PDF, pages 5-6.</a:t>
            </a:r>
          </a:p>
          <a:p xmlns:a="http://schemas.openxmlformats.org/drawingml/2006/main">
            <a:r>
              <a:t>Course 001 restaurant stack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training-friendly abstraction of the master deck's integrations slide. Do not overwhelm RMs with every logo. Teach the categories and what to listen for.</a:t>
            </a:r>
          </a:p>
          <a:p xmlns:a="http://schemas.openxmlformats.org/drawingml/2006/main">
            <a:r>
              <a:t/>
            </a:r>
          </a:p>
          <a:p xmlns:a="http://schemas.openxmlformats.org/drawingml/2006/main">
            <a:r>
              <a:t>[Sources]</a:t>
            </a:r>
          </a:p>
          <a:p xmlns:a="http://schemas.openxmlformats.org/drawingml/2006/main">
            <a:r>
              <a:t>Genius - QSR Master Pitch Deck 1, slide 18: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borrows directly from the competitor matrix whitepaper's framing: the hidden costs of fragmentation are integration fatigue, data silos, support complexity, offline inconsistency, and rollout friction.</a:t>
            </a:r>
          </a:p>
          <a:p xmlns:a="http://schemas.openxmlformats.org/drawingml/2006/main">
            <a:r>
              <a:t/>
            </a:r>
          </a:p>
          <a:p xmlns:a="http://schemas.openxmlformats.org/drawingml/2006/main">
            <a:r>
              <a:t>[Sources]</a:t>
            </a:r>
          </a:p>
          <a:p xmlns:a="http://schemas.openxmlformats.org/drawingml/2006/main">
            <a:r>
              <a:t>Genius competitor matrix whitepaper.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RMs enough vocabulary to understand account notes and calendar invites. It is deliberately category-based, not a battlecard.</a:t>
            </a:r>
          </a:p>
          <a:p xmlns:a="http://schemas.openxmlformats.org/drawingml/2006/main">
            <a:r>
              <a:t/>
            </a:r>
          </a:p>
          <a:p xmlns:a="http://schemas.openxmlformats.org/drawingml/2006/main">
            <a:r>
              <a:t>[Sources]</a:t>
            </a:r>
          </a:p>
          <a:p xmlns:a="http://schemas.openxmlformats.org/drawingml/2006/main">
            <a:r>
              <a:t>Worldpay 30 Account Capture Plan v1.</a:t>
            </a:r>
          </a:p>
          <a:p xmlns:a="http://schemas.openxmlformats.org/drawingml/2006/main">
            <a:r>
              <a:t>Genius competitor matrix whitepaper.</a:t>
            </a:r>
          </a:p>
          <a:p xmlns:a="http://schemas.openxmlformats.org/drawingml/2006/main">
            <a:r>
              <a:t>Enterprise Restaurant Platform Intelligence Framework 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proof point only if time is tight. The learning objective is not customer-story memorization; it is understanding what corporate buyers are trying to prove.</a:t>
            </a:r>
          </a:p>
          <a:p xmlns:a="http://schemas.openxmlformats.org/drawingml/2006/main">
            <a:r>
              <a:t/>
            </a:r>
          </a:p>
          <a:p xmlns:a="http://schemas.openxmlformats.org/drawingml/2006/main">
            <a:r>
              <a:t>[Sources]</a:t>
            </a:r>
          </a:p>
          <a:p xmlns:a="http://schemas.openxmlformats.org/drawingml/2006/main">
            <a:r>
              <a:t>Genius WP - RM taining.pptx, slides 10-12.</a:t>
            </a:r>
          </a:p>
          <a:p xmlns:a="http://schemas.openxmlformats.org/drawingml/2006/main">
            <a:r>
              <a:t>Todd corporate-buyer POV, 2026-07-30.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should become the RM muscle memory. It comes straight from the capture-plan workshop objective: validate facts, identify sellable wedges, and leave with a named next action.</a:t>
            </a:r>
          </a:p>
          <a:p xmlns:a="http://schemas.openxmlformats.org/drawingml/2006/main">
            <a:r>
              <a:t/>
            </a:r>
          </a:p>
          <a:p xmlns:a="http://schemas.openxmlformats.org/drawingml/2006/main">
            <a:r>
              <a:t>[Sources]</a:t>
            </a:r>
          </a:p>
          <a:p xmlns:a="http://schemas.openxmlformats.org/drawingml/2006/main">
            <a:r>
              <a:t>Worldpay 30 Account Capture Plan v1, RM Briefings.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handoff into the 10-minute Q&amp;A. Reinforce that Session 001 is only the orientation map; future trainings go deeper on each Genius platform component.</a:t>
            </a:r>
          </a:p>
          <a:p xmlns:a="http://schemas.openxmlformats.org/drawingml/2006/main">
            <a:r>
              <a:t/>
            </a:r>
          </a:p>
          <a:p xmlns:a="http://schemas.openxmlformats.org/drawingml/2006/main">
            <a:r>
              <a:t>[Sources]</a:t>
            </a:r>
          </a:p>
          <a:p xmlns:a="http://schemas.openxmlformats.org/drawingml/2006/main">
            <a:r>
              <a:t>Worldpay 30 Account Capture Plan v1.</a:t>
            </a:r>
          </a:p>
          <a:p xmlns:a="http://schemas.openxmlformats.org/drawingml/2006/main">
            <a:r>
              <a:t>Enterprise Sales New Hire Playbook, learn by listening and asking questions.</a:t>
            </a:r>
          </a:p>
          <a:p xmlns:a="http://schemas.openxmlformats.org/drawingml/2006/main">
            <a:r>
              <a:t>Todd note: future training will be on each piece of the Genius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fbc55d81e54d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96245c469242b1" /><Relationship Type="http://schemas.openxmlformats.org/officeDocument/2006/relationships/slideLayout" Target="/ppt/slideLayouts/slideLayout1.xml" Id="R761c35a63cbc4c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1c35a63cbc4c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6ec6b237043f0" /><Relationship Type="http://schemas.openxmlformats.org/officeDocument/2006/relationships/notesSlide" Target="/ppt/notesSlides/notesSlide1.xml" Id="R360e80500e524f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9037c0034842da" /><Relationship Type="http://schemas.openxmlformats.org/officeDocument/2006/relationships/notesSlide" Target="/ppt/notesSlides/notesSlide2.xml" Id="Re24815531d0749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e7e60be5d34f70" /><Relationship Type="http://schemas.openxmlformats.org/officeDocument/2006/relationships/notesSlide" Target="/ppt/notesSlides/notesSlide3.xml" Id="Rd8d56b87eb734d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47e6e4c7934d1c" /><Relationship Type="http://schemas.openxmlformats.org/officeDocument/2006/relationships/notesSlide" Target="/ppt/notesSlides/notesSlide4.xml" Id="R4ae007f31bad48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7608e0d8684209" /><Relationship Type="http://schemas.openxmlformats.org/officeDocument/2006/relationships/notesSlide" Target="/ppt/notesSlides/notesSlide5.xml" Id="Rda88f37f11654e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8ccca269524d92" /><Relationship Type="http://schemas.openxmlformats.org/officeDocument/2006/relationships/notesSlide" Target="/ppt/notesSlides/notesSlide6.xml" Id="R5c3f4b39e06e45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cc6eba86b2413b" /><Relationship Type="http://schemas.openxmlformats.org/officeDocument/2006/relationships/notesSlide" Target="/ppt/notesSlides/notesSlide7.xml" Id="R950f598b215346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ac794fb89040e3" /><Relationship Type="http://schemas.openxmlformats.org/officeDocument/2006/relationships/notesSlide" Target="/ppt/notesSlides/notesSlide8.xml" Id="R865687f2983847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5c92f5db7e4477" /><Relationship Type="http://schemas.openxmlformats.org/officeDocument/2006/relationships/notesSlide" Target="/ppt/notesSlides/notesSlide9.xml" Id="R698e9fb903aa43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074cf255fd419d" /><Relationship Type="http://schemas.openxmlformats.org/officeDocument/2006/relationships/notesSlide" Target="/ppt/notesSlides/notesSlide10.xml" Id="Rb3c861d43ad842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29b814166d47e5" /><Relationship Type="http://schemas.openxmlformats.org/officeDocument/2006/relationships/notesSlide" Target="/ppt/notesSlides/notesSlide11.xml" Id="R61991d1b5d5144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7ce2a2bc704c05" /><Relationship Type="http://schemas.openxmlformats.org/officeDocument/2006/relationships/notesSlide" Target="/ppt/notesSlides/notesSlide12.xml" Id="R8fc2622f826543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db5abc8e32462d" /><Relationship Type="http://schemas.openxmlformats.org/officeDocument/2006/relationships/notesSlide" Target="/ppt/notesSlides/notesSlide13.xml" Id="R341497c323f246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a1241bc69b4ed3" /><Relationship Type="http://schemas.openxmlformats.org/officeDocument/2006/relationships/notesSlide" Target="/ppt/notesSlides/notesSlide14.xml" Id="R3e354007c77b43f5" /></Relationships>
</file>

<file path=ppt/slides/slide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8DC93B-7572-437D-A86F-B7D72921EEEC}"/>
              </a:ext>
            </a:extLst>
          </p:cNvPr>
          <p:cNvSpPr>
            <a:spLocks xmlns:a="http://schemas.openxmlformats.org/drawingml/2006/main" noGrp="1"/>
          </p:cNvSpPr>
          <p:nvPr/>
        </p:nvSpPr>
        <p:spPr>
          <a:xfrm xmlns:a="http://schemas.openxmlformats.org/drawingml/2006/main">
            <a:off x="685800" y="1028700"/>
            <a:ext cx="8191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162033"/>
                </a:solidFill>
              </a:defRPr>
            </a:pPr>
            <a:r>
              <a:rPr sz="4050" b="1">
                <a:solidFill>
                  <a:srgbClr val="162033"/>
                </a:solidFill>
              </a:rPr>
              <a:t>Genius Platform + Restaurant Tech Stack</a:t>
            </a:r>
          </a:p>
        </p:txBody>
      </p:sp>
      <p:sp>
        <p:nvSpPr>
          <p:cNvPr id="2" name="">
            <a:extLst xmlns:a="http://schemas.openxmlformats.org/drawingml/2006/main">
              <a:ext uri="{FF2B5EF4-FFF2-40B4-BE49-F238E27FC236}">
                <a16:creationId xmlns:a16="http://schemas.microsoft.com/office/drawing/2014/main" id="{458D9796-0FE0-4D26-AD34-8A6A7D894329}"/>
              </a:ext>
            </a:extLst>
          </p:cNvPr>
          <p:cNvSpPr>
            <a:spLocks xmlns:a="http://schemas.openxmlformats.org/drawingml/2006/main" noGrp="1"/>
          </p:cNvSpPr>
          <p:nvPr/>
        </p:nvSpPr>
        <p:spPr>
          <a:xfrm xmlns:a="http://schemas.openxmlformats.org/drawingml/2006/main">
            <a:off x="723900" y="2571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42526E"/>
                </a:solidFill>
              </a:defRPr>
            </a:pPr>
            <a:r>
              <a:rPr sz="1800" b="0">
                <a:solidFill>
                  <a:srgbClr val="42526E"/>
                </a:solidFill>
              </a:rPr>
              <a:t>A 20-minute field primer for Worldpay relationship managers</a:t>
            </a:r>
          </a:p>
        </p:txBody>
      </p:sp>
      <p:sp>
        <p:nvSpPr>
          <p:cNvPr id="3" name="">
            <a:extLst xmlns:a="http://schemas.openxmlformats.org/drawingml/2006/main">
              <a:ext uri="{FF2B5EF4-FFF2-40B4-BE49-F238E27FC236}">
                <a16:creationId xmlns:a16="http://schemas.microsoft.com/office/drawing/2014/main" id="{17C31449-9D47-479F-B9DA-5A15E51FB004}"/>
              </a:ext>
            </a:extLst>
          </p:cNvPr>
          <p:cNvSpPr>
            <a:spLocks xmlns:a="http://schemas.openxmlformats.org/drawingml/2006/main" noGrp="1"/>
          </p:cNvSpPr>
          <p:nvPr/>
        </p:nvSpPr>
        <p:spPr>
          <a:xfrm xmlns:a="http://schemas.openxmlformats.org/drawingml/2006/main">
            <a:off x="723900" y="3714750"/>
            <a:ext cx="6858000" cy="704850"/>
          </a:xfrm>
          <a:prstGeom xmlns:a="http://schemas.openxmlformats.org/drawingml/2006/main" prst="roundRect">
            <a:avLst>
              <a:gd name="adj" fmla="val 10811"/>
            </a:avLst>
          </a:prstGeom>
          <a:solidFill xmlns:a="http://schemas.openxmlformats.org/drawingml/2006/main">
            <a:srgbClr val="EAF2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62033"/>
                </a:solidFill>
              </a:defRPr>
            </a:pPr>
            <a:r>
              <a:rPr sz="1800" b="1">
                <a:solidFill>
                  <a:srgbClr val="162033"/>
                </a:solidFill>
              </a:rPr>
              <a:t>Payments are the doorway. Operations are the buying reason.</a:t>
            </a:r>
          </a:p>
        </p:txBody>
      </p:sp>
      <p:sp>
        <p:nvSpPr>
          <p:cNvPr id="4" name="">
            <a:extLst xmlns:a="http://schemas.openxmlformats.org/drawingml/2006/main">
              <a:ext uri="{FF2B5EF4-FFF2-40B4-BE49-F238E27FC236}">
                <a16:creationId xmlns:a16="http://schemas.microsoft.com/office/drawing/2014/main" id="{BF34C5E1-6384-49B1-8703-D6E8AEA8612C}"/>
              </a:ext>
            </a:extLst>
          </p:cNvPr>
          <p:cNvSpPr>
            <a:spLocks xmlns:a="http://schemas.openxmlformats.org/drawingml/2006/main" noGrp="1"/>
          </p:cNvSpPr>
          <p:nvPr/>
        </p:nvSpPr>
        <p:spPr>
          <a:xfrm xmlns:a="http://schemas.openxmlformats.org/drawingml/2006/main">
            <a:off x="723900" y="4953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55EEF"/>
                </a:solidFill>
              </a:defRPr>
            </a:pPr>
            <a:r>
              <a:rPr sz="1500" b="1">
                <a:solidFill>
                  <a:srgbClr val="155EEF"/>
                </a:solidFill>
              </a:rPr>
              <a:t>Q&amp;A: 10 minutes</a:t>
            </a:r>
          </a:p>
        </p:txBody>
      </p:sp>
      <p:sp>
        <p:nvSpPr>
          <p:cNvPr id="5" name="">
            <a:extLst xmlns:a="http://schemas.openxmlformats.org/drawingml/2006/main">
              <a:ext uri="{FF2B5EF4-FFF2-40B4-BE49-F238E27FC236}">
                <a16:creationId xmlns:a16="http://schemas.microsoft.com/office/drawing/2014/main" id="{4E277A9E-0F4A-4182-9770-2FDAD657E2ED}"/>
              </a:ext>
            </a:extLst>
          </p:cNvPr>
          <p:cNvSpPr>
            <a:spLocks xmlns:a="http://schemas.openxmlformats.org/drawingml/2006/main" noGrp="1"/>
          </p:cNvSpPr>
          <p:nvPr/>
        </p:nvSpPr>
        <p:spPr>
          <a:xfrm xmlns:a="http://schemas.openxmlformats.org/drawingml/2006/main">
            <a:off x="9048750" y="0"/>
            <a:ext cx="3143250" cy="685800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1CCD3E-867C-43C0-908C-F076F96F36B3}"/>
              </a:ext>
            </a:extLst>
          </p:cNvPr>
          <p:cNvSpPr>
            <a:spLocks xmlns:a="http://schemas.openxmlformats.org/drawingml/2006/main" noGrp="1"/>
          </p:cNvSpPr>
          <p:nvPr/>
        </p:nvSpPr>
        <p:spPr>
          <a:xfrm xmlns:a="http://schemas.openxmlformats.org/drawingml/2006/main">
            <a:off x="9429750" y="800100"/>
            <a:ext cx="1809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defRPr>
            </a:pPr>
            <a:r>
              <a:rPr sz="5400" b="1">
                <a:solidFill>
                  <a:srgbClr val="FFFFFF"/>
                </a:solidFill>
              </a:rPr>
              <a:t>01</a:t>
            </a:r>
          </a:p>
        </p:txBody>
      </p:sp>
      <p:sp>
        <p:nvSpPr>
          <p:cNvPr id="7" name="">
            <a:extLst xmlns:a="http://schemas.openxmlformats.org/drawingml/2006/main">
              <a:ext uri="{FF2B5EF4-FFF2-40B4-BE49-F238E27FC236}">
                <a16:creationId xmlns:a16="http://schemas.microsoft.com/office/drawing/2014/main" id="{AB40284F-64CB-434E-9F9A-04B3A35AB933}"/>
              </a:ext>
            </a:extLst>
          </p:cNvPr>
          <p:cNvSpPr>
            <a:spLocks xmlns:a="http://schemas.openxmlformats.org/drawingml/2006/main" noGrp="1"/>
          </p:cNvSpPr>
          <p:nvPr/>
        </p:nvSpPr>
        <p:spPr>
          <a:xfrm xmlns:a="http://schemas.openxmlformats.org/drawingml/2006/main">
            <a:off x="9467850" y="1790700"/>
            <a:ext cx="2095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Restaurant platform fluency</a:t>
            </a:r>
          </a:p>
        </p:txBody>
      </p:sp>
    </p:spTree>
    <p:extLst>
      <p:ext uri="{BB962C8B-B14F-4D97-AF65-F5344CB8AC3E}">
        <p14:creationId xmlns:p14="http://schemas.microsoft.com/office/powerpoint/2010/main" val="16176518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
            <a:extLst xmlns:a="http://schemas.openxmlformats.org/drawingml/2006/main">
              <a:ext uri="{FF2B5EF4-FFF2-40B4-BE49-F238E27FC236}">
                <a16:creationId xmlns:a16="http://schemas.microsoft.com/office/drawing/2014/main" id="{8941374D-A9FD-4923-BCEA-41F6527C8341}"/>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2459CEED-96FD-451D-8EF7-0CA64A931DB1}"/>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The market moved from payments decisions to platform decisions</a:t>
            </a:r>
          </a:p>
        </p:txBody>
      </p:sp>
      <p:sp>
        <p:nvSpPr>
          <p:cNvPr id="3" name="">
            <a:extLst xmlns:a="http://schemas.openxmlformats.org/drawingml/2006/main">
              <a:ext uri="{FF2B5EF4-FFF2-40B4-BE49-F238E27FC236}">
                <a16:creationId xmlns:a16="http://schemas.microsoft.com/office/drawing/2014/main" id="{E93A90BA-B04F-40F6-A4DD-90B8DF2A3048}"/>
              </a:ext>
            </a:extLst>
          </p:cNvPr>
          <p:cNvSpPr>
            <a:spLocks xmlns:a="http://schemas.openxmlformats.org/drawingml/2006/main" noGrp="1"/>
          </p:cNvSpPr>
          <p:nvPr/>
        </p:nvSpPr>
        <p:spPr>
          <a:xfrm xmlns:a="http://schemas.openxmlformats.org/drawingml/2006/main">
            <a:off x="1047750" y="2000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6B778C"/>
                </a:solidFill>
              </a:defRPr>
            </a:pPr>
            <a:r>
              <a:rPr sz="1950" b="1">
                <a:solidFill>
                  <a:srgbClr val="6B778C"/>
                </a:solidFill>
              </a:rPr>
              <a:t>Old buying model</a:t>
            </a:r>
          </a:p>
        </p:txBody>
      </p:sp>
      <p:sp>
        <p:nvSpPr>
          <p:cNvPr id="4" name="">
            <a:extLst xmlns:a="http://schemas.openxmlformats.org/drawingml/2006/main">
              <a:ext uri="{FF2B5EF4-FFF2-40B4-BE49-F238E27FC236}">
                <a16:creationId xmlns:a16="http://schemas.microsoft.com/office/drawing/2014/main" id="{DB53F5E6-0993-4605-A758-8A0B8255EE75}"/>
              </a:ext>
            </a:extLst>
          </p:cNvPr>
          <p:cNvSpPr>
            <a:spLocks xmlns:a="http://schemas.openxmlformats.org/drawingml/2006/main" noGrp="1"/>
          </p:cNvSpPr>
          <p:nvPr/>
        </p:nvSpPr>
        <p:spPr>
          <a:xfrm xmlns:a="http://schemas.openxmlformats.org/drawingml/2006/main">
            <a:off x="7715250" y="2000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55EEF"/>
                </a:solidFill>
              </a:defRPr>
            </a:pPr>
            <a:r>
              <a:rPr sz="1950" b="1">
                <a:solidFill>
                  <a:srgbClr val="155EEF"/>
                </a:solidFill>
              </a:rPr>
              <a:t>New buying model</a:t>
            </a:r>
          </a:p>
        </p:txBody>
      </p:sp>
      <p:sp>
        <p:nvSpPr>
          <p:cNvPr id="5" name="">
            <a:extLst xmlns:a="http://schemas.openxmlformats.org/drawingml/2006/main">
              <a:ext uri="{FF2B5EF4-FFF2-40B4-BE49-F238E27FC236}">
                <a16:creationId xmlns:a16="http://schemas.microsoft.com/office/drawing/2014/main" id="{6BC1896B-BA78-4167-8A81-7B35B916265F}"/>
              </a:ext>
            </a:extLst>
          </p:cNvPr>
          <p:cNvSpPr>
            <a:spLocks xmlns:a="http://schemas.openxmlformats.org/drawingml/2006/main" noGrp="1"/>
          </p:cNvSpPr>
          <p:nvPr/>
        </p:nvSpPr>
        <p:spPr>
          <a:xfrm xmlns:a="http://schemas.openxmlformats.org/drawingml/2006/main">
            <a:off x="952500" y="2667000"/>
            <a:ext cx="3619500" cy="1428750"/>
          </a:xfrm>
          <a:prstGeom xmlns:a="http://schemas.openxmlformats.org/drawingml/2006/main" prst="roundRect">
            <a:avLst>
              <a:gd name="adj" fmla="val 5333"/>
            </a:avLst>
          </a:prstGeom>
          <a:solidFill xmlns:a="http://schemas.openxmlformats.org/drawingml/2006/main">
            <a:srgbClr val="F2F4F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62033"/>
                </a:solidFill>
              </a:defRPr>
            </a:pPr>
            <a:r>
              <a:rPr sz="2025" b="1">
                <a:solidFill>
                  <a:srgbClr val="162033"/>
                </a:solidFill>
              </a:rPr>
              <a:t>POS vs POS</a:t>
            </a:r>
          </a:p>
          <a:p xmlns:a="http://schemas.openxmlformats.org/drawingml/2006/main">
            <a:pPr algn="ctr">
              <a:defRPr sz="2025" b="1">
                <a:solidFill>
                  <a:srgbClr val="162033"/>
                </a:solidFill>
              </a:defRPr>
            </a:pPr>
            <a:r>
              <a:rPr sz="2025" b="1">
                <a:solidFill>
                  <a:srgbClr val="162033"/>
                </a:solidFill>
              </a:rPr>
              <a:t>Payments vs Payments</a:t>
            </a:r>
          </a:p>
        </p:txBody>
      </p:sp>
      <p:sp>
        <p:nvSpPr>
          <p:cNvPr id="6" name="">
            <a:extLst xmlns:a="http://schemas.openxmlformats.org/drawingml/2006/main">
              <a:ext uri="{FF2B5EF4-FFF2-40B4-BE49-F238E27FC236}">
                <a16:creationId xmlns:a16="http://schemas.microsoft.com/office/drawing/2014/main" id="{96596D2F-CDCC-4D53-830F-8970EC06B895}"/>
              </a:ext>
            </a:extLst>
          </p:cNvPr>
          <p:cNvSpPr>
            <a:spLocks xmlns:a="http://schemas.openxmlformats.org/drawingml/2006/main" noGrp="1"/>
          </p:cNvSpPr>
          <p:nvPr/>
        </p:nvSpPr>
        <p:spPr>
          <a:xfrm xmlns:a="http://schemas.openxmlformats.org/drawingml/2006/main">
            <a:off x="5286375" y="3000375"/>
            <a:ext cx="1619250" cy="723900"/>
          </a:xfrm>
          <a:prstGeom xmlns:a="http://schemas.openxmlformats.org/drawingml/2006/main" prst="rightArrow">
            <a:avLst/>
          </a:prstGeom>
          <a:solidFill xmlns:a="http://schemas.openxmlformats.org/drawingml/2006/main">
            <a:srgbClr val="155E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6AC98E-EB1A-47FB-B9B0-5FDAEA6C5D3F}"/>
              </a:ext>
            </a:extLst>
          </p:cNvPr>
          <p:cNvSpPr>
            <a:spLocks xmlns:a="http://schemas.openxmlformats.org/drawingml/2006/main" noGrp="1"/>
          </p:cNvSpPr>
          <p:nvPr/>
        </p:nvSpPr>
        <p:spPr>
          <a:xfrm xmlns:a="http://schemas.openxmlformats.org/drawingml/2006/main">
            <a:off x="7448550" y="2628900"/>
            <a:ext cx="3905250" cy="1562100"/>
          </a:xfrm>
          <a:prstGeom xmlns:a="http://schemas.openxmlformats.org/drawingml/2006/main" prst="roundRect">
            <a:avLst>
              <a:gd name="adj" fmla="val 4878"/>
            </a:avLst>
          </a:prstGeom>
          <a:solidFill xmlns:a="http://schemas.openxmlformats.org/drawingml/2006/main">
            <a:srgbClr val="EAF2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62033"/>
                </a:solidFill>
              </a:defRPr>
            </a:pPr>
            <a:r>
              <a:rPr sz="1875" b="1">
                <a:solidFill>
                  <a:srgbClr val="162033"/>
                </a:solidFill>
              </a:rPr>
              <a:t>Restaurant Operating Platform</a:t>
            </a:r>
          </a:p>
          <a:p xmlns:a="http://schemas.openxmlformats.org/drawingml/2006/main">
            <a:pPr algn="ctr">
              <a:defRPr sz="1875" b="1">
                <a:solidFill>
                  <a:srgbClr val="162033"/>
                </a:solidFill>
              </a:defRPr>
            </a:pPr>
            <a:r>
              <a:rPr sz="1875" b="1">
                <a:solidFill>
                  <a:srgbClr val="162033"/>
                </a:solidFill>
              </a:rPr>
              <a:t>AI + Commerce + Payments + Operations</a:t>
            </a:r>
          </a:p>
        </p:txBody>
      </p:sp>
      <p:sp>
        <p:nvSpPr>
          <p:cNvPr id="8" name="">
            <a:extLst xmlns:a="http://schemas.openxmlformats.org/drawingml/2006/main">
              <a:ext uri="{FF2B5EF4-FFF2-40B4-BE49-F238E27FC236}">
                <a16:creationId xmlns:a16="http://schemas.microsoft.com/office/drawing/2014/main" id="{DBD1C0C3-A7A2-48BC-BA75-360A9057E784}"/>
              </a:ext>
            </a:extLst>
          </p:cNvPr>
          <p:cNvSpPr>
            <a:spLocks xmlns:a="http://schemas.openxmlformats.org/drawingml/2006/main" noGrp="1"/>
          </p:cNvSpPr>
          <p:nvPr/>
        </p:nvSpPr>
        <p:spPr>
          <a:xfrm xmlns:a="http://schemas.openxmlformats.org/drawingml/2006/main">
            <a:off x="1657350" y="495300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62033"/>
                </a:solidFill>
              </a:defRPr>
            </a:pPr>
            <a:r>
              <a:rPr sz="1950" b="1">
                <a:solidFill>
                  <a:srgbClr val="162033"/>
                </a:solidFill>
              </a:rPr>
              <a:t>RM takeaway: a payment trigger may be a signal that the broader stack is changing.</a:t>
            </a:r>
          </a:p>
        </p:txBody>
      </p:sp>
      <p:sp>
        <p:nvSpPr>
          <p:cNvPr id="9" name="">
            <a:extLst xmlns:a="http://schemas.openxmlformats.org/drawingml/2006/main">
              <a:ext uri="{FF2B5EF4-FFF2-40B4-BE49-F238E27FC236}">
                <a16:creationId xmlns:a16="http://schemas.microsoft.com/office/drawing/2014/main" id="{09E7B473-69C7-486D-B197-197163CC6B29}"/>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3000B8-A0B0-47A8-BC1B-73E452F3D266}"/>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1" name="">
            <a:extLst xmlns:a="http://schemas.openxmlformats.org/drawingml/2006/main">
              <a:ext uri="{FF2B5EF4-FFF2-40B4-BE49-F238E27FC236}">
                <a16:creationId xmlns:a16="http://schemas.microsoft.com/office/drawing/2014/main" id="{E343EE85-A73A-4429-B050-E2508E9F17C0}"/>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02</a:t>
            </a:r>
          </a:p>
        </p:txBody>
      </p:sp>
    </p:spTree>
    <p:extLst>
      <p:ext uri="{BB962C8B-B14F-4D97-AF65-F5344CB8AC3E}">
        <p14:creationId xmlns:p14="http://schemas.microsoft.com/office/powerpoint/2010/main" val="6828579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DCA07C0-0C60-401C-BC08-07060764DE43}"/>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204473B7-7192-4474-8EEE-06BB72C7440E}"/>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The posture: diagnose pain, educate, and earn the right</a:t>
            </a:r>
          </a:p>
        </p:txBody>
      </p:sp>
      <p:sp>
        <p:nvSpPr>
          <p:cNvPr id="3" name="">
            <a:extLst xmlns:a="http://schemas.openxmlformats.org/drawingml/2006/main">
              <a:ext uri="{FF2B5EF4-FFF2-40B4-BE49-F238E27FC236}">
                <a16:creationId xmlns:a16="http://schemas.microsoft.com/office/drawing/2014/main" id="{2E46D754-9FB2-4FE8-9CFE-30FDC16E17EA}"/>
              </a:ext>
            </a:extLst>
          </p:cNvPr>
          <p:cNvSpPr>
            <a:spLocks xmlns:a="http://schemas.openxmlformats.org/drawingml/2006/main" noGrp="1"/>
          </p:cNvSpPr>
          <p:nvPr/>
        </p:nvSpPr>
        <p:spPr>
          <a:xfrm xmlns:a="http://schemas.openxmlformats.org/drawingml/2006/main">
            <a:off x="781050" y="2000250"/>
            <a:ext cx="57150" cy="29527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586751-1B93-4985-8E6A-05939D504DA9}"/>
              </a:ext>
            </a:extLst>
          </p:cNvPr>
          <p:cNvSpPr>
            <a:spLocks xmlns:a="http://schemas.openxmlformats.org/drawingml/2006/main" noGrp="1"/>
          </p:cNvSpPr>
          <p:nvPr/>
        </p:nvSpPr>
        <p:spPr>
          <a:xfrm xmlns:a="http://schemas.openxmlformats.org/drawingml/2006/main">
            <a:off x="971550" y="200025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What competitors may try</a:t>
            </a:r>
          </a:p>
        </p:txBody>
      </p:sp>
      <p:sp>
        <p:nvSpPr>
          <p:cNvPr id="5" name="">
            <a:extLst xmlns:a="http://schemas.openxmlformats.org/drawingml/2006/main">
              <a:ext uri="{FF2B5EF4-FFF2-40B4-BE49-F238E27FC236}">
                <a16:creationId xmlns:a16="http://schemas.microsoft.com/office/drawing/2014/main" id="{30AB3221-14BA-4DCB-99CF-871A94A3077F}"/>
              </a:ext>
            </a:extLst>
          </p:cNvPr>
          <p:cNvSpPr>
            <a:spLocks xmlns:a="http://schemas.openxmlformats.org/drawingml/2006/main" noGrp="1"/>
          </p:cNvSpPr>
          <p:nvPr/>
        </p:nvSpPr>
        <p:spPr>
          <a:xfrm xmlns:a="http://schemas.openxmlformats.org/drawingml/2006/main">
            <a:off x="971550" y="2457450"/>
            <a:ext cx="4810125"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Use one installed product to force the next sale</a:t>
            </a:r>
          </a:p>
          <a:p xmlns:a="http://schemas.openxmlformats.org/drawingml/2006/main">
            <a:pPr algn="l">
              <a:defRPr sz="1350" b="0">
                <a:solidFill>
                  <a:srgbClr val="42526E"/>
                </a:solidFill>
              </a:defRPr>
            </a:pPr>
            <a:r>
              <a:rPr sz="1350" b="0">
                <a:solidFill>
                  <a:srgbClr val="42526E"/>
                </a:solidFill>
              </a:rPr>
              <a:t>- Bundle weaker services into the account</a:t>
            </a:r>
          </a:p>
          <a:p xmlns:a="http://schemas.openxmlformats.org/drawingml/2006/main">
            <a:pPr algn="l">
              <a:defRPr sz="1350" b="0">
                <a:solidFill>
                  <a:srgbClr val="42526E"/>
                </a:solidFill>
              </a:defRPr>
            </a:pPr>
            <a:r>
              <a:rPr sz="1350" b="0">
                <a:solidFill>
                  <a:srgbClr val="42526E"/>
                </a:solidFill>
              </a:rPr>
              <a:t>- Create switching friction instead of customer value</a:t>
            </a:r>
          </a:p>
          <a:p xmlns:a="http://schemas.openxmlformats.org/drawingml/2006/main">
            <a:pPr algn="l">
              <a:defRPr sz="1350" b="0">
                <a:solidFill>
                  <a:srgbClr val="42526E"/>
                </a:solidFill>
              </a:defRPr>
            </a:pPr>
            <a:r>
              <a:rPr sz="1350" b="0">
                <a:solidFill>
                  <a:srgbClr val="42526E"/>
                </a:solidFill>
              </a:rPr>
              <a:t>- Turn platform breadth into pressure</a:t>
            </a:r>
          </a:p>
        </p:txBody>
      </p:sp>
      <p:sp>
        <p:nvSpPr>
          <p:cNvPr id="6" name="">
            <a:extLst xmlns:a="http://schemas.openxmlformats.org/drawingml/2006/main">
              <a:ext uri="{FF2B5EF4-FFF2-40B4-BE49-F238E27FC236}">
                <a16:creationId xmlns:a16="http://schemas.microsoft.com/office/drawing/2014/main" id="{E951AAFE-17A7-4C6B-8C39-7C49DE163F65}"/>
              </a:ext>
            </a:extLst>
          </p:cNvPr>
          <p:cNvSpPr>
            <a:spLocks xmlns:a="http://schemas.openxmlformats.org/drawingml/2006/main" noGrp="1"/>
          </p:cNvSpPr>
          <p:nvPr/>
        </p:nvSpPr>
        <p:spPr>
          <a:xfrm xmlns:a="http://schemas.openxmlformats.org/drawingml/2006/main">
            <a:off x="6400800" y="2000250"/>
            <a:ext cx="57150" cy="29527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974E7C-2781-475B-BB3E-9F73BDA1AE06}"/>
              </a:ext>
            </a:extLst>
          </p:cNvPr>
          <p:cNvSpPr>
            <a:spLocks xmlns:a="http://schemas.openxmlformats.org/drawingml/2006/main" noGrp="1"/>
          </p:cNvSpPr>
          <p:nvPr/>
        </p:nvSpPr>
        <p:spPr>
          <a:xfrm xmlns:a="http://schemas.openxmlformats.org/drawingml/2006/main">
            <a:off x="6591300" y="2000250"/>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What Worldpay + Genius should do</a:t>
            </a:r>
          </a:p>
        </p:txBody>
      </p:sp>
      <p:sp>
        <p:nvSpPr>
          <p:cNvPr id="8" name="">
            <a:extLst xmlns:a="http://schemas.openxmlformats.org/drawingml/2006/main">
              <a:ext uri="{FF2B5EF4-FFF2-40B4-BE49-F238E27FC236}">
                <a16:creationId xmlns:a16="http://schemas.microsoft.com/office/drawing/2014/main" id="{3D032707-6756-4EB3-AA7A-32A30941018C}"/>
              </a:ext>
            </a:extLst>
          </p:cNvPr>
          <p:cNvSpPr>
            <a:spLocks xmlns:a="http://schemas.openxmlformats.org/drawingml/2006/main" noGrp="1"/>
          </p:cNvSpPr>
          <p:nvPr/>
        </p:nvSpPr>
        <p:spPr>
          <a:xfrm xmlns:a="http://schemas.openxmlformats.org/drawingml/2006/main">
            <a:off x="6591300" y="2457450"/>
            <a:ext cx="4810125"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Start with the customer's business problem</a:t>
            </a:r>
          </a:p>
          <a:p xmlns:a="http://schemas.openxmlformats.org/drawingml/2006/main">
            <a:pPr algn="l">
              <a:defRPr sz="1350" b="0">
                <a:solidFill>
                  <a:srgbClr val="42526E"/>
                </a:solidFill>
              </a:defRPr>
            </a:pPr>
            <a:r>
              <a:rPr sz="1350" b="0">
                <a:solidFill>
                  <a:srgbClr val="42526E"/>
                </a:solidFill>
              </a:rPr>
              <a:t>- Show where payments fits in the ecosystem</a:t>
            </a:r>
          </a:p>
          <a:p xmlns:a="http://schemas.openxmlformats.org/drawingml/2006/main">
            <a:pPr algn="l">
              <a:defRPr sz="1350" b="0">
                <a:solidFill>
                  <a:srgbClr val="42526E"/>
                </a:solidFill>
              </a:defRPr>
            </a:pPr>
            <a:r>
              <a:rPr sz="1350" b="0">
                <a:solidFill>
                  <a:srgbClr val="42526E"/>
                </a:solidFill>
              </a:rPr>
              <a:t>- Educate on the choices available</a:t>
            </a:r>
          </a:p>
          <a:p xmlns:a="http://schemas.openxmlformats.org/drawingml/2006/main">
            <a:pPr algn="l">
              <a:defRPr sz="1350" b="0">
                <a:solidFill>
                  <a:srgbClr val="42526E"/>
                </a:solidFill>
              </a:defRPr>
            </a:pPr>
            <a:r>
              <a:rPr sz="1350" b="0">
                <a:solidFill>
                  <a:srgbClr val="42526E"/>
                </a:solidFill>
              </a:rPr>
              <a:t>- Recommend the right next step</a:t>
            </a:r>
          </a:p>
          <a:p xmlns:a="http://schemas.openxmlformats.org/drawingml/2006/main">
            <a:pPr algn="l">
              <a:defRPr sz="1350" b="0">
                <a:solidFill>
                  <a:srgbClr val="42526E"/>
                </a:solidFill>
              </a:defRPr>
            </a:pPr>
            <a:r>
              <a:rPr sz="1350" b="0">
                <a:solidFill>
                  <a:srgbClr val="42526E"/>
                </a:solidFill>
              </a:rPr>
              <a:t>- Earn more business through trust</a:t>
            </a:r>
          </a:p>
        </p:txBody>
      </p:sp>
      <p:sp>
        <p:nvSpPr>
          <p:cNvPr id="9" name="">
            <a:extLst xmlns:a="http://schemas.openxmlformats.org/drawingml/2006/main">
              <a:ext uri="{FF2B5EF4-FFF2-40B4-BE49-F238E27FC236}">
                <a16:creationId xmlns:a16="http://schemas.microsoft.com/office/drawing/2014/main" id="{88DF7E6D-2648-42FE-B397-0BED77FC8D51}"/>
              </a:ext>
            </a:extLst>
          </p:cNvPr>
          <p:cNvSpPr>
            <a:spLocks xmlns:a="http://schemas.openxmlformats.org/drawingml/2006/main" noGrp="1"/>
          </p:cNvSpPr>
          <p:nvPr/>
        </p:nvSpPr>
        <p:spPr>
          <a:xfrm xmlns:a="http://schemas.openxmlformats.org/drawingml/2006/main">
            <a:off x="1200150" y="5429250"/>
            <a:ext cx="981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62033"/>
                </a:solidFill>
              </a:defRPr>
            </a:pPr>
            <a:r>
              <a:rPr sz="1875" b="1">
                <a:solidFill>
                  <a:srgbClr val="162033"/>
                </a:solidFill>
              </a:rPr>
              <a:t>We value choice. We do not strong-arm customers into doing more business with us. We earn that right.</a:t>
            </a:r>
          </a:p>
        </p:txBody>
      </p:sp>
      <p:sp>
        <p:nvSpPr>
          <p:cNvPr id="10" name="">
            <a:extLst xmlns:a="http://schemas.openxmlformats.org/drawingml/2006/main">
              <a:ext uri="{FF2B5EF4-FFF2-40B4-BE49-F238E27FC236}">
                <a16:creationId xmlns:a16="http://schemas.microsoft.com/office/drawing/2014/main" id="{9EFBF37B-E9A0-41E2-B58E-C939C2F0BB44}"/>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814A92-382C-4083-ADEE-D07870E4FB2A}"/>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2" name="">
            <a:extLst xmlns:a="http://schemas.openxmlformats.org/drawingml/2006/main">
              <a:ext uri="{FF2B5EF4-FFF2-40B4-BE49-F238E27FC236}">
                <a16:creationId xmlns:a16="http://schemas.microsoft.com/office/drawing/2014/main" id="{25D9CF6D-15C0-4ECA-804B-B4E6368F4AA4}"/>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03</a:t>
            </a:r>
          </a:p>
        </p:txBody>
      </p:sp>
    </p:spTree>
    <p:extLst>
      <p:ext uri="{BB962C8B-B14F-4D97-AF65-F5344CB8AC3E}">
        <p14:creationId xmlns:p14="http://schemas.microsoft.com/office/powerpoint/2010/main" val="12662259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D47538A-A698-4085-8761-B7BCC3D3A4A1}"/>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73B38D8B-AC04-4323-A98B-71A718A28E76}"/>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Corporate and store teams buy for different reasons</a:t>
            </a:r>
          </a:p>
        </p:txBody>
      </p:sp>
      <p:sp>
        <p:nvSpPr>
          <p:cNvPr id="3" name="">
            <a:extLst xmlns:a="http://schemas.openxmlformats.org/drawingml/2006/main">
              <a:ext uri="{FF2B5EF4-FFF2-40B4-BE49-F238E27FC236}">
                <a16:creationId xmlns:a16="http://schemas.microsoft.com/office/drawing/2014/main" id="{1CE06D03-966E-46DF-A647-1AA46ECC638E}"/>
              </a:ext>
            </a:extLst>
          </p:cNvPr>
          <p:cNvSpPr>
            <a:spLocks xmlns:a="http://schemas.openxmlformats.org/drawingml/2006/main" noGrp="1"/>
          </p:cNvSpPr>
          <p:nvPr/>
        </p:nvSpPr>
        <p:spPr>
          <a:xfrm xmlns:a="http://schemas.openxmlformats.org/drawingml/2006/main">
            <a:off x="781050" y="1952625"/>
            <a:ext cx="57150" cy="314325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F32354-33AA-4494-8A12-89150968206C}"/>
              </a:ext>
            </a:extLst>
          </p:cNvPr>
          <p:cNvSpPr>
            <a:spLocks xmlns:a="http://schemas.openxmlformats.org/drawingml/2006/main" noGrp="1"/>
          </p:cNvSpPr>
          <p:nvPr/>
        </p:nvSpPr>
        <p:spPr>
          <a:xfrm xmlns:a="http://schemas.openxmlformats.org/drawingml/2006/main">
            <a:off x="971550" y="1952625"/>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Corporate customer wants</a:t>
            </a:r>
          </a:p>
        </p:txBody>
      </p:sp>
      <p:sp>
        <p:nvSpPr>
          <p:cNvPr id="5" name="">
            <a:extLst xmlns:a="http://schemas.openxmlformats.org/drawingml/2006/main">
              <a:ext uri="{FF2B5EF4-FFF2-40B4-BE49-F238E27FC236}">
                <a16:creationId xmlns:a16="http://schemas.microsoft.com/office/drawing/2014/main" id="{C44CF2FB-F0E7-4638-BB62-94F8277708D6}"/>
              </a:ext>
            </a:extLst>
          </p:cNvPr>
          <p:cNvSpPr>
            <a:spLocks xmlns:a="http://schemas.openxmlformats.org/drawingml/2006/main" noGrp="1"/>
          </p:cNvSpPr>
          <p:nvPr/>
        </p:nvSpPr>
        <p:spPr>
          <a:xfrm xmlns:a="http://schemas.openxmlformats.org/drawingml/2006/main">
            <a:off x="971550" y="2409825"/>
            <a:ext cx="4810125"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Top-line sales enhanced</a:t>
            </a:r>
          </a:p>
          <a:p xmlns:a="http://schemas.openxmlformats.org/drawingml/2006/main">
            <a:pPr algn="l">
              <a:defRPr sz="1350" b="0">
                <a:solidFill>
                  <a:srgbClr val="42526E"/>
                </a:solidFill>
              </a:defRPr>
            </a:pPr>
            <a:r>
              <a:rPr sz="1350" b="0">
                <a:solidFill>
                  <a:srgbClr val="42526E"/>
                </a:solidFill>
              </a:rPr>
              <a:t>- A tangible win for the system</a:t>
            </a:r>
          </a:p>
          <a:p xmlns:a="http://schemas.openxmlformats.org/drawingml/2006/main">
            <a:pPr algn="l">
              <a:defRPr sz="1350" b="0">
                <a:solidFill>
                  <a:srgbClr val="42526E"/>
                </a:solidFill>
              </a:defRPr>
            </a:pPr>
            <a:r>
              <a:rPr sz="1350" b="0">
                <a:solidFill>
                  <a:srgbClr val="42526E"/>
                </a:solidFill>
              </a:rPr>
              <a:t>- A personal victory they can point to</a:t>
            </a:r>
          </a:p>
          <a:p xmlns:a="http://schemas.openxmlformats.org/drawingml/2006/main">
            <a:pPr algn="l">
              <a:defRPr sz="1350" b="0">
                <a:solidFill>
                  <a:srgbClr val="42526E"/>
                </a:solidFill>
              </a:defRPr>
            </a:pPr>
            <a:r>
              <a:rPr sz="1350" b="0">
                <a:solidFill>
                  <a:srgbClr val="42526E"/>
                </a:solidFill>
              </a:rPr>
              <a:t>- Vendor consolidation and control</a:t>
            </a:r>
          </a:p>
          <a:p xmlns:a="http://schemas.openxmlformats.org/drawingml/2006/main">
            <a:pPr algn="l">
              <a:defRPr sz="1350" b="0">
                <a:solidFill>
                  <a:srgbClr val="42526E"/>
                </a:solidFill>
              </a:defRPr>
            </a:pPr>
            <a:r>
              <a:rPr sz="1350" b="0">
                <a:solidFill>
                  <a:srgbClr val="42526E"/>
                </a:solidFill>
              </a:rPr>
              <a:t>- Reduced or no franchisee noise</a:t>
            </a:r>
          </a:p>
        </p:txBody>
      </p:sp>
      <p:sp>
        <p:nvSpPr>
          <p:cNvPr id="6" name="">
            <a:extLst xmlns:a="http://schemas.openxmlformats.org/drawingml/2006/main">
              <a:ext uri="{FF2B5EF4-FFF2-40B4-BE49-F238E27FC236}">
                <a16:creationId xmlns:a16="http://schemas.microsoft.com/office/drawing/2014/main" id="{8863D306-0FAE-4AB9-8647-EBF825C521E4}"/>
              </a:ext>
            </a:extLst>
          </p:cNvPr>
          <p:cNvSpPr>
            <a:spLocks xmlns:a="http://schemas.openxmlformats.org/drawingml/2006/main" noGrp="1"/>
          </p:cNvSpPr>
          <p:nvPr/>
        </p:nvSpPr>
        <p:spPr>
          <a:xfrm xmlns:a="http://schemas.openxmlformats.org/drawingml/2006/main">
            <a:off x="6400800" y="1952625"/>
            <a:ext cx="57150" cy="3143250"/>
          </a:xfrm>
          <a:prstGeom xmlns:a="http://schemas.openxmlformats.org/drawingml/2006/main" prst="rect">
            <a:avLst/>
          </a:prstGeom>
          <a:solidFill xmlns:a="http://schemas.openxmlformats.org/drawingml/2006/main">
            <a:srgbClr val="00A3A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74E0A2-BE82-4B5F-A170-477D9DA81B89}"/>
              </a:ext>
            </a:extLst>
          </p:cNvPr>
          <p:cNvSpPr>
            <a:spLocks xmlns:a="http://schemas.openxmlformats.org/drawingml/2006/main" noGrp="1"/>
          </p:cNvSpPr>
          <p:nvPr/>
        </p:nvSpPr>
        <p:spPr>
          <a:xfrm xmlns:a="http://schemas.openxmlformats.org/drawingml/2006/main">
            <a:off x="6591300" y="1952625"/>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Store / franchisee operator wants</a:t>
            </a:r>
          </a:p>
        </p:txBody>
      </p:sp>
      <p:sp>
        <p:nvSpPr>
          <p:cNvPr id="8" name="">
            <a:extLst xmlns:a="http://schemas.openxmlformats.org/drawingml/2006/main">
              <a:ext uri="{FF2B5EF4-FFF2-40B4-BE49-F238E27FC236}">
                <a16:creationId xmlns:a16="http://schemas.microsoft.com/office/drawing/2014/main" id="{D771C844-1D0A-4940-9FC2-305A82DDE372}"/>
              </a:ext>
            </a:extLst>
          </p:cNvPr>
          <p:cNvSpPr>
            <a:spLocks xmlns:a="http://schemas.openxmlformats.org/drawingml/2006/main" noGrp="1"/>
          </p:cNvSpPr>
          <p:nvPr/>
        </p:nvSpPr>
        <p:spPr>
          <a:xfrm xmlns:a="http://schemas.openxmlformats.org/drawingml/2006/main">
            <a:off x="6591300" y="2409825"/>
            <a:ext cx="4810125"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Speed during rush</a:t>
            </a:r>
          </a:p>
          <a:p xmlns:a="http://schemas.openxmlformats.org/drawingml/2006/main">
            <a:pPr algn="l">
              <a:defRPr sz="1350" b="0">
                <a:solidFill>
                  <a:srgbClr val="42526E"/>
                </a:solidFill>
              </a:defRPr>
            </a:pPr>
            <a:r>
              <a:rPr sz="1350" b="0">
                <a:solidFill>
                  <a:srgbClr val="42526E"/>
                </a:solidFill>
              </a:rPr>
              <a:t>- Uptime and reliability</a:t>
            </a:r>
          </a:p>
          <a:p xmlns:a="http://schemas.openxmlformats.org/drawingml/2006/main">
            <a:pPr algn="l">
              <a:defRPr sz="1350" b="0">
                <a:solidFill>
                  <a:srgbClr val="42526E"/>
                </a:solidFill>
              </a:defRPr>
            </a:pPr>
            <a:r>
              <a:rPr sz="1350" b="0">
                <a:solidFill>
                  <a:srgbClr val="42526E"/>
                </a:solidFill>
              </a:rPr>
              <a:t>- Easy training for staff</a:t>
            </a:r>
          </a:p>
          <a:p xmlns:a="http://schemas.openxmlformats.org/drawingml/2006/main">
            <a:pPr algn="l">
              <a:defRPr sz="1350" b="0">
                <a:solidFill>
                  <a:srgbClr val="42526E"/>
                </a:solidFill>
              </a:defRPr>
            </a:pPr>
            <a:r>
              <a:rPr sz="1350" b="0">
                <a:solidFill>
                  <a:srgbClr val="42526E"/>
                </a:solidFill>
              </a:rPr>
              <a:t>- Fast support when something breaks</a:t>
            </a:r>
          </a:p>
          <a:p xmlns:a="http://schemas.openxmlformats.org/drawingml/2006/main">
            <a:pPr algn="l">
              <a:defRPr sz="1350" b="0">
                <a:solidFill>
                  <a:srgbClr val="42526E"/>
                </a:solidFill>
              </a:defRPr>
            </a:pPr>
            <a:r>
              <a:rPr sz="1350" b="0">
                <a:solidFill>
                  <a:srgbClr val="42526E"/>
                </a:solidFill>
              </a:rPr>
              <a:t>- Tools that make labor easier</a:t>
            </a:r>
          </a:p>
        </p:txBody>
      </p:sp>
      <p:sp>
        <p:nvSpPr>
          <p:cNvPr id="9" name="">
            <a:extLst xmlns:a="http://schemas.openxmlformats.org/drawingml/2006/main">
              <a:ext uri="{FF2B5EF4-FFF2-40B4-BE49-F238E27FC236}">
                <a16:creationId xmlns:a16="http://schemas.microsoft.com/office/drawing/2014/main" id="{8B32AD9B-6D9A-462F-911E-E9D2A6DBA54E}"/>
              </a:ext>
            </a:extLst>
          </p:cNvPr>
          <p:cNvSpPr>
            <a:spLocks xmlns:a="http://schemas.openxmlformats.org/drawingml/2006/main" noGrp="1"/>
          </p:cNvSpPr>
          <p:nvPr/>
        </p:nvSpPr>
        <p:spPr>
          <a:xfrm xmlns:a="http://schemas.openxmlformats.org/drawingml/2006/main">
            <a:off x="1257300" y="5381625"/>
            <a:ext cx="9677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62033"/>
                </a:solidFill>
              </a:defRPr>
            </a:pPr>
            <a:r>
              <a:rPr sz="1875" b="1">
                <a:solidFill>
                  <a:srgbClr val="162033"/>
                </a:solidFill>
              </a:rPr>
              <a:t>Your POV: platform value has to create corporate proof without creating store-level noise.</a:t>
            </a:r>
          </a:p>
        </p:txBody>
      </p:sp>
      <p:sp>
        <p:nvSpPr>
          <p:cNvPr id="10" name="">
            <a:extLst xmlns:a="http://schemas.openxmlformats.org/drawingml/2006/main">
              <a:ext uri="{FF2B5EF4-FFF2-40B4-BE49-F238E27FC236}">
                <a16:creationId xmlns:a16="http://schemas.microsoft.com/office/drawing/2014/main" id="{96B419F6-DF2E-4603-900E-833D8D2BB84A}"/>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0F3EBB6-1E7A-4CDE-9245-E37E39301A7C}"/>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2" name="">
            <a:extLst xmlns:a="http://schemas.openxmlformats.org/drawingml/2006/main">
              <a:ext uri="{FF2B5EF4-FFF2-40B4-BE49-F238E27FC236}">
                <a16:creationId xmlns:a16="http://schemas.microsoft.com/office/drawing/2014/main" id="{A18B8BBF-B508-4B47-90DA-84AC9694E608}"/>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04</a:t>
            </a:r>
          </a:p>
        </p:txBody>
      </p:sp>
    </p:spTree>
    <p:extLst>
      <p:ext uri="{BB962C8B-B14F-4D97-AF65-F5344CB8AC3E}">
        <p14:creationId xmlns:p14="http://schemas.microsoft.com/office/powerpoint/2010/main" val="1448722282"/>
      </p:ext>
    </p:extLst>
  </p:cSld>
</p:sld>
</file>

<file path=ppt/slides/slide5.xml><?xml version="1.0" encoding="utf-8"?>
<p:sld xmlns:p="http://schemas.openxmlformats.org/presentationml/2006/main">
  <p:cSld>
    <p:bg>
      <p:bgPr>
        <a:solidFill xmlns:a="http://schemas.openxmlformats.org/drawingml/2006/main">
          <a:srgbClr val="155E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3EEA27-617E-490A-87BF-ACC6444771D3}"/>
              </a:ext>
            </a:extLst>
          </p:cNvPr>
          <p:cNvSpPr>
            <a:spLocks xmlns:a="http://schemas.openxmlformats.org/drawingml/2006/main" noGrp="1"/>
          </p:cNvSpPr>
          <p:nvPr/>
        </p:nvSpPr>
        <p:spPr>
          <a:xfrm xmlns:a="http://schemas.openxmlformats.org/drawingml/2006/main">
            <a:off x="876300" y="6667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Genius is a full restaurant commerce suite</a:t>
            </a:r>
          </a:p>
        </p:txBody>
      </p:sp>
      <p:sp>
        <p:nvSpPr>
          <p:cNvPr id="2" name="">
            <a:extLst xmlns:a="http://schemas.openxmlformats.org/drawingml/2006/main">
              <a:ext uri="{FF2B5EF4-FFF2-40B4-BE49-F238E27FC236}">
                <a16:creationId xmlns:a16="http://schemas.microsoft.com/office/drawing/2014/main" id="{EEB8F4DB-9A83-4671-9BF1-D54A2FE4023D}"/>
              </a:ext>
            </a:extLst>
          </p:cNvPr>
          <p:cNvSpPr>
            <a:spLocks xmlns:a="http://schemas.openxmlformats.org/drawingml/2006/main" noGrp="1"/>
          </p:cNvSpPr>
          <p:nvPr/>
        </p:nvSpPr>
        <p:spPr>
          <a:xfrm xmlns:a="http://schemas.openxmlformats.org/drawingml/2006/main">
            <a:off x="1809750" y="1714500"/>
            <a:ext cx="6286500" cy="2857500"/>
          </a:xfrm>
          <a:prstGeom xmlns:a="http://schemas.openxmlformats.org/drawingml/2006/main" prst="roundRect">
            <a:avLst>
              <a:gd name="adj" fmla="val 2667"/>
            </a:avLst>
          </a:prstGeom>
          <a:solidFill xmlns:a="http://schemas.openxmlformats.org/drawingml/2006/main">
            <a:srgbClr val="263CFF"/>
          </a:solidFill>
          <a:ln xmlns:a="http://schemas.openxmlformats.org/drawingml/2006/main" w="9525">
            <a:solidFill>
              <a:srgbClr val="FFFFFF"/>
            </a:solidFill>
            <a:prstDash val="solid"/>
          </a:ln>
        </p:spPr>
      </p:sp>
      <p:sp>
        <p:nvSpPr>
          <p:cNvPr id="3" name="">
            <a:extLst xmlns:a="http://schemas.openxmlformats.org/drawingml/2006/main">
              <a:ext uri="{FF2B5EF4-FFF2-40B4-BE49-F238E27FC236}">
                <a16:creationId xmlns:a16="http://schemas.microsoft.com/office/drawing/2014/main" id="{F6F65DA3-56AB-4772-AEBF-670755AD78FB}"/>
              </a:ext>
            </a:extLst>
          </p:cNvPr>
          <p:cNvSpPr>
            <a:spLocks xmlns:a="http://schemas.openxmlformats.org/drawingml/2006/main" noGrp="1"/>
          </p:cNvSpPr>
          <p:nvPr/>
        </p:nvSpPr>
        <p:spPr>
          <a:xfrm xmlns:a="http://schemas.openxmlformats.org/drawingml/2006/main">
            <a:off x="3333750" y="1524000"/>
            <a:ext cx="3238500" cy="552450"/>
          </a:xfrm>
          <a:prstGeom xmlns:a="http://schemas.openxmlformats.org/drawingml/2006/main" prst="roundRect">
            <a:avLst>
              <a:gd name="adj" fmla="val 13793"/>
            </a:avLst>
          </a:prstGeom>
          <a:solidFill xmlns:a="http://schemas.openxmlformats.org/drawingml/2006/main">
            <a:srgbClr val="2F46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genius</a:t>
            </a:r>
          </a:p>
        </p:txBody>
      </p:sp>
      <p:sp>
        <p:nvSpPr>
          <p:cNvPr id="4" name="">
            <a:extLst xmlns:a="http://schemas.openxmlformats.org/drawingml/2006/main">
              <a:ext uri="{FF2B5EF4-FFF2-40B4-BE49-F238E27FC236}">
                <a16:creationId xmlns:a16="http://schemas.microsoft.com/office/drawing/2014/main" id="{6583269B-8D02-4370-B222-4AE23DD89CE8}"/>
              </a:ext>
            </a:extLst>
          </p:cNvPr>
          <p:cNvSpPr>
            <a:spLocks xmlns:a="http://schemas.openxmlformats.org/drawingml/2006/main" noGrp="1"/>
          </p:cNvSpPr>
          <p:nvPr/>
        </p:nvSpPr>
        <p:spPr>
          <a:xfrm xmlns:a="http://schemas.openxmlformats.org/drawingml/2006/main">
            <a:off x="2095500" y="2381250"/>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62033"/>
                </a:solidFill>
              </a:defRPr>
            </a:pPr>
            <a:r>
              <a:rPr sz="1425" b="1">
                <a:solidFill>
                  <a:srgbClr val="162033"/>
                </a:solidFill>
              </a:rPr>
              <a:t>Point of Sale</a:t>
            </a:r>
          </a:p>
        </p:txBody>
      </p:sp>
      <p:sp>
        <p:nvSpPr>
          <p:cNvPr id="5" name="">
            <a:extLst xmlns:a="http://schemas.openxmlformats.org/drawingml/2006/main">
              <a:ext uri="{FF2B5EF4-FFF2-40B4-BE49-F238E27FC236}">
                <a16:creationId xmlns:a16="http://schemas.microsoft.com/office/drawing/2014/main" id="{28F4FF52-CADB-45E4-A182-044A04DCC7D6}"/>
              </a:ext>
            </a:extLst>
          </p:cNvPr>
          <p:cNvSpPr>
            <a:spLocks xmlns:a="http://schemas.openxmlformats.org/drawingml/2006/main" noGrp="1"/>
          </p:cNvSpPr>
          <p:nvPr/>
        </p:nvSpPr>
        <p:spPr>
          <a:xfrm xmlns:a="http://schemas.openxmlformats.org/drawingml/2006/main">
            <a:off x="4286250" y="2381250"/>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62033"/>
                </a:solidFill>
              </a:defRPr>
            </a:pPr>
            <a:r>
              <a:rPr sz="1425" b="1">
                <a:solidFill>
                  <a:srgbClr val="162033"/>
                </a:solidFill>
              </a:rPr>
              <a:t>Kitchen</a:t>
            </a:r>
          </a:p>
        </p:txBody>
      </p:sp>
      <p:sp>
        <p:nvSpPr>
          <p:cNvPr id="6" name="">
            <a:extLst xmlns:a="http://schemas.openxmlformats.org/drawingml/2006/main">
              <a:ext uri="{FF2B5EF4-FFF2-40B4-BE49-F238E27FC236}">
                <a16:creationId xmlns:a16="http://schemas.microsoft.com/office/drawing/2014/main" id="{8B5BE5C5-8AF5-4635-A07E-38946064DC56}"/>
              </a:ext>
            </a:extLst>
          </p:cNvPr>
          <p:cNvSpPr>
            <a:spLocks xmlns:a="http://schemas.openxmlformats.org/drawingml/2006/main" noGrp="1"/>
          </p:cNvSpPr>
          <p:nvPr/>
        </p:nvSpPr>
        <p:spPr>
          <a:xfrm xmlns:a="http://schemas.openxmlformats.org/drawingml/2006/main">
            <a:off x="6477000" y="2381250"/>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62033"/>
                </a:solidFill>
              </a:defRPr>
            </a:pPr>
            <a:r>
              <a:rPr sz="1425" b="1">
                <a:solidFill>
                  <a:srgbClr val="162033"/>
                </a:solidFill>
              </a:rPr>
              <a:t>Back Office</a:t>
            </a:r>
          </a:p>
        </p:txBody>
      </p:sp>
      <p:sp>
        <p:nvSpPr>
          <p:cNvPr id="7" name="">
            <a:extLst xmlns:a="http://schemas.openxmlformats.org/drawingml/2006/main">
              <a:ext uri="{FF2B5EF4-FFF2-40B4-BE49-F238E27FC236}">
                <a16:creationId xmlns:a16="http://schemas.microsoft.com/office/drawing/2014/main" id="{FE8602D3-3DD5-4BA8-9C0D-0D37EAFF1CE9}"/>
              </a:ext>
            </a:extLst>
          </p:cNvPr>
          <p:cNvSpPr>
            <a:spLocks xmlns:a="http://schemas.openxmlformats.org/drawingml/2006/main" noGrp="1"/>
          </p:cNvSpPr>
          <p:nvPr/>
        </p:nvSpPr>
        <p:spPr>
          <a:xfrm xmlns:a="http://schemas.openxmlformats.org/drawingml/2006/main">
            <a:off x="2095500" y="3476625"/>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62033"/>
                </a:solidFill>
              </a:defRPr>
            </a:pPr>
            <a:r>
              <a:rPr sz="1425" b="1">
                <a:solidFill>
                  <a:srgbClr val="162033"/>
                </a:solidFill>
              </a:rPr>
              <a:t>Drive-Thru</a:t>
            </a:r>
          </a:p>
        </p:txBody>
      </p:sp>
      <p:sp>
        <p:nvSpPr>
          <p:cNvPr id="8" name="">
            <a:extLst xmlns:a="http://schemas.openxmlformats.org/drawingml/2006/main">
              <a:ext uri="{FF2B5EF4-FFF2-40B4-BE49-F238E27FC236}">
                <a16:creationId xmlns:a16="http://schemas.microsoft.com/office/drawing/2014/main" id="{7D76D6F0-4492-4BB8-ABDF-2C3CF30D73E1}"/>
              </a:ext>
            </a:extLst>
          </p:cNvPr>
          <p:cNvSpPr>
            <a:spLocks xmlns:a="http://schemas.openxmlformats.org/drawingml/2006/main" noGrp="1"/>
          </p:cNvSpPr>
          <p:nvPr/>
        </p:nvSpPr>
        <p:spPr>
          <a:xfrm xmlns:a="http://schemas.openxmlformats.org/drawingml/2006/main">
            <a:off x="4286250" y="3476625"/>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62033"/>
                </a:solidFill>
              </a:defRPr>
            </a:pPr>
            <a:r>
              <a:rPr sz="1275" b="1">
                <a:solidFill>
                  <a:srgbClr val="162033"/>
                </a:solidFill>
              </a:rPr>
              <a:t>Digital Menu Boards</a:t>
            </a:r>
          </a:p>
        </p:txBody>
      </p:sp>
      <p:sp>
        <p:nvSpPr>
          <p:cNvPr id="9" name="">
            <a:extLst xmlns:a="http://schemas.openxmlformats.org/drawingml/2006/main">
              <a:ext uri="{FF2B5EF4-FFF2-40B4-BE49-F238E27FC236}">
                <a16:creationId xmlns:a16="http://schemas.microsoft.com/office/drawing/2014/main" id="{C86D917D-3CEE-4467-B094-D9428AF5F959}"/>
              </a:ext>
            </a:extLst>
          </p:cNvPr>
          <p:cNvSpPr>
            <a:spLocks xmlns:a="http://schemas.openxmlformats.org/drawingml/2006/main" noGrp="1"/>
          </p:cNvSpPr>
          <p:nvPr/>
        </p:nvSpPr>
        <p:spPr>
          <a:xfrm xmlns:a="http://schemas.openxmlformats.org/drawingml/2006/main">
            <a:off x="6477000" y="3476625"/>
            <a:ext cx="17145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62033"/>
                </a:solidFill>
              </a:defRPr>
            </a:pPr>
            <a:r>
              <a:rPr sz="1425" b="1">
                <a:solidFill>
                  <a:srgbClr val="162033"/>
                </a:solidFill>
              </a:rPr>
              <a:t>Kiosk</a:t>
            </a:r>
          </a:p>
        </p:txBody>
      </p:sp>
      <p:sp>
        <p:nvSpPr>
          <p:cNvPr id="10" name="">
            <a:extLst xmlns:a="http://schemas.openxmlformats.org/drawingml/2006/main">
              <a:ext uri="{FF2B5EF4-FFF2-40B4-BE49-F238E27FC236}">
                <a16:creationId xmlns:a16="http://schemas.microsoft.com/office/drawing/2014/main" id="{6F367DC0-CC7A-45B3-9D93-87B95E1CD70E}"/>
              </a:ext>
            </a:extLst>
          </p:cNvPr>
          <p:cNvSpPr>
            <a:spLocks xmlns:a="http://schemas.openxmlformats.org/drawingml/2006/main" noGrp="1"/>
          </p:cNvSpPr>
          <p:nvPr/>
        </p:nvSpPr>
        <p:spPr>
          <a:xfrm xmlns:a="http://schemas.openxmlformats.org/drawingml/2006/main">
            <a:off x="3429000" y="11239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FFFFFF"/>
                </a:solidFill>
              </a:defRPr>
            </a:pPr>
            <a:r>
              <a:rPr sz="1350" b="0">
                <a:solidFill>
                  <a:srgbClr val="FFFFFF"/>
                </a:solidFill>
              </a:rPr>
              <a:t>Connects to third-party integrations</a:t>
            </a:r>
          </a:p>
        </p:txBody>
      </p:sp>
      <p:sp>
        <p:nvSpPr>
          <p:cNvPr id="11" name="">
            <a:extLst xmlns:a="http://schemas.openxmlformats.org/drawingml/2006/main">
              <a:ext uri="{FF2B5EF4-FFF2-40B4-BE49-F238E27FC236}">
                <a16:creationId xmlns:a16="http://schemas.microsoft.com/office/drawing/2014/main" id="{A585AEE7-25D0-4F78-A3F9-55B019D53C3D}"/>
              </a:ext>
            </a:extLst>
          </p:cNvPr>
          <p:cNvSpPr>
            <a:spLocks xmlns:a="http://schemas.openxmlformats.org/drawingml/2006/main" noGrp="1"/>
          </p:cNvSpPr>
          <p:nvPr/>
        </p:nvSpPr>
        <p:spPr>
          <a:xfrm xmlns:a="http://schemas.openxmlformats.org/drawingml/2006/main">
            <a:off x="8572500" y="2524125"/>
            <a:ext cx="2667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Built for busy restaurant operators</a:t>
            </a:r>
          </a:p>
          <a:p xmlns:a="http://schemas.openxmlformats.org/drawingml/2006/main">
            <a:pPr algn="l">
              <a:defRPr sz="1500" b="0">
                <a:solidFill>
                  <a:srgbClr val="FFFFFF"/>
                </a:solidFill>
              </a:defRPr>
            </a:pPr>
            <a:r>
              <a:rPr sz="1500" b="0">
                <a:solidFill>
                  <a:srgbClr val="FFFFFF"/>
                </a:solidFill>
              </a:rPr>
              <a:t>Easy to get started and scale</a:t>
            </a:r>
          </a:p>
          <a:p xmlns:a="http://schemas.openxmlformats.org/drawingml/2006/main">
            <a:pPr algn="l">
              <a:defRPr sz="1500" b="0">
                <a:solidFill>
                  <a:srgbClr val="FFFFFF"/>
                </a:solidFill>
              </a:defRPr>
            </a:pPr>
            <a:r>
              <a:rPr sz="1500" b="0">
                <a:solidFill>
                  <a:srgbClr val="FFFFFF"/>
                </a:solidFill>
              </a:rPr>
              <a:t>Connects the front and back of house</a:t>
            </a:r>
          </a:p>
        </p:txBody>
      </p:sp>
      <p:sp>
        <p:nvSpPr>
          <p:cNvPr id="12" name="">
            <a:extLst xmlns:a="http://schemas.openxmlformats.org/drawingml/2006/main">
              <a:ext uri="{FF2B5EF4-FFF2-40B4-BE49-F238E27FC236}">
                <a16:creationId xmlns:a16="http://schemas.microsoft.com/office/drawing/2014/main" id="{0F8EAB3F-758C-45B4-B021-13C5DA42ACAD}"/>
              </a:ext>
            </a:extLst>
          </p:cNvPr>
          <p:cNvSpPr>
            <a:spLocks xmlns:a="http://schemas.openxmlformats.org/drawingml/2006/main" noGrp="1"/>
          </p:cNvSpPr>
          <p:nvPr/>
        </p:nvSpPr>
        <p:spPr>
          <a:xfrm xmlns:a="http://schemas.openxmlformats.org/drawingml/2006/main">
            <a:off x="1295400" y="5476875"/>
            <a:ext cx="960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RM takeaway: Genius gives you more than a processing conversation. It gives you a platform conversation.</a:t>
            </a:r>
          </a:p>
        </p:txBody>
      </p:sp>
      <p:sp>
        <p:nvSpPr>
          <p:cNvPr id="13" name="">
            <a:extLst xmlns:a="http://schemas.openxmlformats.org/drawingml/2006/main">
              <a:ext uri="{FF2B5EF4-FFF2-40B4-BE49-F238E27FC236}">
                <a16:creationId xmlns:a16="http://schemas.microsoft.com/office/drawing/2014/main" id="{38BDF305-E083-4B2A-B670-7FA28099FD6C}"/>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86A8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795993-7922-4CF1-81C6-24C0033E697F}"/>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DDE8FF"/>
                </a:solidFill>
              </a:defRPr>
            </a:pPr>
            <a:r>
              <a:rPr sz="900" b="0">
                <a:solidFill>
                  <a:srgbClr val="DDE8FF"/>
                </a:solidFill>
              </a:rPr>
              <a:t>Genius platform training for Worldpay relationship managers</a:t>
            </a:r>
          </a:p>
        </p:txBody>
      </p:sp>
      <p:sp>
        <p:nvSpPr>
          <p:cNvPr id="15" name="">
            <a:extLst xmlns:a="http://schemas.openxmlformats.org/drawingml/2006/main">
              <a:ext uri="{FF2B5EF4-FFF2-40B4-BE49-F238E27FC236}">
                <a16:creationId xmlns:a16="http://schemas.microsoft.com/office/drawing/2014/main" id="{4DC3CEB8-68E2-40B0-B261-B5F451BF6B19}"/>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DDE8FF"/>
                </a:solidFill>
              </a:defRPr>
            </a:pPr>
            <a:r>
              <a:rPr sz="900" b="1">
                <a:solidFill>
                  <a:srgbClr val="DDE8FF"/>
                </a:solidFill>
              </a:rPr>
              <a:t>05</a:t>
            </a:r>
          </a:p>
        </p:txBody>
      </p:sp>
    </p:spTree>
    <p:extLst>
      <p:ext uri="{BB962C8B-B14F-4D97-AF65-F5344CB8AC3E}">
        <p14:creationId xmlns:p14="http://schemas.microsoft.com/office/powerpoint/2010/main" val="18708351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kicker">
            <a:extLst xmlns:a="http://schemas.openxmlformats.org/drawingml/2006/main">
              <a:ext uri="{FF2B5EF4-FFF2-40B4-BE49-F238E27FC236}">
                <a16:creationId xmlns:a16="http://schemas.microsoft.com/office/drawing/2014/main" id="{FB72C3DF-B3C4-44CA-92C6-A5A6EA3F9A40}"/>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47282E30-691F-4801-8D4F-A34F55C64491}"/>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The ecosystem connects front of house to back of house</a:t>
            </a:r>
          </a:p>
        </p:txBody>
      </p:sp>
      <p:sp>
        <p:nvSpPr>
          <p:cNvPr id="3" name="">
            <a:extLst xmlns:a="http://schemas.openxmlformats.org/drawingml/2006/main">
              <a:ext uri="{FF2B5EF4-FFF2-40B4-BE49-F238E27FC236}">
                <a16:creationId xmlns:a16="http://schemas.microsoft.com/office/drawing/2014/main" id="{F5699F3D-B005-4C80-AD46-042E5D869442}"/>
              </a:ext>
            </a:extLst>
          </p:cNvPr>
          <p:cNvSpPr>
            <a:spLocks xmlns:a="http://schemas.openxmlformats.org/drawingml/2006/main" noGrp="1"/>
          </p:cNvSpPr>
          <p:nvPr/>
        </p:nvSpPr>
        <p:spPr>
          <a:xfrm xmlns:a="http://schemas.openxmlformats.org/drawingml/2006/main">
            <a:off x="104775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2E7D32"/>
                </a:solidFill>
              </a:defRPr>
            </a:pPr>
            <a:r>
              <a:rPr sz="1950" b="1">
                <a:solidFill>
                  <a:srgbClr val="2E7D32"/>
                </a:solidFill>
              </a:rPr>
              <a:t>Run efficiently</a:t>
            </a:r>
          </a:p>
        </p:txBody>
      </p:sp>
      <p:sp>
        <p:nvSpPr>
          <p:cNvPr id="4" name="">
            <a:extLst xmlns:a="http://schemas.openxmlformats.org/drawingml/2006/main">
              <a:ext uri="{FF2B5EF4-FFF2-40B4-BE49-F238E27FC236}">
                <a16:creationId xmlns:a16="http://schemas.microsoft.com/office/drawing/2014/main" id="{08762D72-EBF1-4D30-9A63-3D77F72E90F3}"/>
              </a:ext>
            </a:extLst>
          </p:cNvPr>
          <p:cNvSpPr>
            <a:spLocks xmlns:a="http://schemas.openxmlformats.org/drawingml/2006/main" noGrp="1"/>
          </p:cNvSpPr>
          <p:nvPr/>
        </p:nvSpPr>
        <p:spPr>
          <a:xfrm xmlns:a="http://schemas.openxmlformats.org/drawingml/2006/main">
            <a:off x="824865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55EEF"/>
                </a:solidFill>
              </a:defRPr>
            </a:pPr>
            <a:r>
              <a:rPr sz="1950" b="1">
                <a:solidFill>
                  <a:srgbClr val="155EEF"/>
                </a:solidFill>
              </a:rPr>
              <a:t>Grow revenue</a:t>
            </a:r>
          </a:p>
        </p:txBody>
      </p:sp>
      <p:sp>
        <p:nvSpPr>
          <p:cNvPr id="5" name="">
            <a:extLst xmlns:a="http://schemas.openxmlformats.org/drawingml/2006/main">
              <a:ext uri="{FF2B5EF4-FFF2-40B4-BE49-F238E27FC236}">
                <a16:creationId xmlns:a16="http://schemas.microsoft.com/office/drawing/2014/main" id="{63DDB703-0D42-4184-9C72-61DAC854FB0D}"/>
              </a:ext>
            </a:extLst>
          </p:cNvPr>
          <p:cNvSpPr>
            <a:spLocks xmlns:a="http://schemas.openxmlformats.org/drawingml/2006/main" noGrp="1"/>
          </p:cNvSpPr>
          <p:nvPr/>
        </p:nvSpPr>
        <p:spPr>
          <a:xfrm xmlns:a="http://schemas.openxmlformats.org/drawingml/2006/main">
            <a:off x="1028700" y="2590800"/>
            <a:ext cx="10001250" cy="400050"/>
          </a:xfrm>
          <a:prstGeom xmlns:a="http://schemas.openxmlformats.org/drawingml/2006/main" prst="rightArrow">
            <a:avLst/>
          </a:prstGeom>
          <a:solidFill xmlns:a="http://schemas.openxmlformats.org/drawingml/2006/main">
            <a:srgbClr val="155E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F161BBA-8F49-4D31-A063-31DC4211115D}"/>
              </a:ext>
            </a:extLst>
          </p:cNvPr>
          <p:cNvSpPr>
            <a:spLocks xmlns:a="http://schemas.openxmlformats.org/drawingml/2006/main" noGrp="1"/>
          </p:cNvSpPr>
          <p:nvPr/>
        </p:nvSpPr>
        <p:spPr>
          <a:xfrm xmlns:a="http://schemas.openxmlformats.org/drawingml/2006/main">
            <a:off x="5048250" y="26765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PAYMENTS</a:t>
            </a:r>
          </a:p>
        </p:txBody>
      </p:sp>
      <p:sp>
        <p:nvSpPr>
          <p:cNvPr id="7" name="">
            <a:extLst xmlns:a="http://schemas.openxmlformats.org/drawingml/2006/main">
              <a:ext uri="{FF2B5EF4-FFF2-40B4-BE49-F238E27FC236}">
                <a16:creationId xmlns:a16="http://schemas.microsoft.com/office/drawing/2014/main" id="{F732708B-DD58-4F43-9A50-BF9D57606FEF}"/>
              </a:ext>
            </a:extLst>
          </p:cNvPr>
          <p:cNvSpPr>
            <a:spLocks xmlns:a="http://schemas.openxmlformats.org/drawingml/2006/main" noGrp="1"/>
          </p:cNvSpPr>
          <p:nvPr/>
        </p:nvSpPr>
        <p:spPr>
          <a:xfrm xmlns:a="http://schemas.openxmlformats.org/drawingml/2006/main">
            <a:off x="1047750" y="3238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Point of Sale</a:t>
            </a:r>
          </a:p>
        </p:txBody>
      </p:sp>
      <p:sp>
        <p:nvSpPr>
          <p:cNvPr id="8" name="">
            <a:extLst xmlns:a="http://schemas.openxmlformats.org/drawingml/2006/main">
              <a:ext uri="{FF2B5EF4-FFF2-40B4-BE49-F238E27FC236}">
                <a16:creationId xmlns:a16="http://schemas.microsoft.com/office/drawing/2014/main" id="{136FD0BC-5B23-4878-9BA5-61C897F14E26}"/>
              </a:ext>
            </a:extLst>
          </p:cNvPr>
          <p:cNvSpPr>
            <a:spLocks xmlns:a="http://schemas.openxmlformats.org/drawingml/2006/main" noGrp="1"/>
          </p:cNvSpPr>
          <p:nvPr/>
        </p:nvSpPr>
        <p:spPr>
          <a:xfrm xmlns:a="http://schemas.openxmlformats.org/drawingml/2006/main">
            <a:off x="3095625" y="32575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Cloud-native POS, order flow, offline mode, centralized control.</a:t>
            </a:r>
          </a:p>
        </p:txBody>
      </p:sp>
      <p:sp>
        <p:nvSpPr>
          <p:cNvPr id="9" name="">
            <a:extLst xmlns:a="http://schemas.openxmlformats.org/drawingml/2006/main">
              <a:ext uri="{FF2B5EF4-FFF2-40B4-BE49-F238E27FC236}">
                <a16:creationId xmlns:a16="http://schemas.microsoft.com/office/drawing/2014/main" id="{897F3DF9-92C2-4DF5-B560-67DAE86DBE2E}"/>
              </a:ext>
            </a:extLst>
          </p:cNvPr>
          <p:cNvSpPr>
            <a:spLocks xmlns:a="http://schemas.openxmlformats.org/drawingml/2006/main" noGrp="1"/>
          </p:cNvSpPr>
          <p:nvPr/>
        </p:nvSpPr>
        <p:spPr>
          <a:xfrm xmlns:a="http://schemas.openxmlformats.org/drawingml/2006/main">
            <a:off x="1047750" y="39243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Kitchen</a:t>
            </a:r>
          </a:p>
        </p:txBody>
      </p:sp>
      <p:sp>
        <p:nvSpPr>
          <p:cNvPr id="10" name="">
            <a:extLst xmlns:a="http://schemas.openxmlformats.org/drawingml/2006/main">
              <a:ext uri="{FF2B5EF4-FFF2-40B4-BE49-F238E27FC236}">
                <a16:creationId xmlns:a16="http://schemas.microsoft.com/office/drawing/2014/main" id="{05EA79FA-2BAA-4ED7-A759-AD6717043567}"/>
              </a:ext>
            </a:extLst>
          </p:cNvPr>
          <p:cNvSpPr>
            <a:spLocks xmlns:a="http://schemas.openxmlformats.org/drawingml/2006/main" noGrp="1"/>
          </p:cNvSpPr>
          <p:nvPr/>
        </p:nvSpPr>
        <p:spPr>
          <a:xfrm xmlns:a="http://schemas.openxmlformats.org/drawingml/2006/main">
            <a:off x="3095625" y="39433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Real-time routing, smart bumping, synchronized fulfillment.</a:t>
            </a:r>
          </a:p>
        </p:txBody>
      </p:sp>
      <p:sp>
        <p:nvSpPr>
          <p:cNvPr id="11" name="">
            <a:extLst xmlns:a="http://schemas.openxmlformats.org/drawingml/2006/main">
              <a:ext uri="{FF2B5EF4-FFF2-40B4-BE49-F238E27FC236}">
                <a16:creationId xmlns:a16="http://schemas.microsoft.com/office/drawing/2014/main" id="{CFD90A61-BABE-4E87-823D-39E996E1EEE9}"/>
              </a:ext>
            </a:extLst>
          </p:cNvPr>
          <p:cNvSpPr>
            <a:spLocks xmlns:a="http://schemas.openxmlformats.org/drawingml/2006/main" noGrp="1"/>
          </p:cNvSpPr>
          <p:nvPr/>
        </p:nvSpPr>
        <p:spPr>
          <a:xfrm xmlns:a="http://schemas.openxmlformats.org/drawingml/2006/main">
            <a:off x="1047750" y="4610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Back Office</a:t>
            </a:r>
          </a:p>
        </p:txBody>
      </p:sp>
      <p:sp>
        <p:nvSpPr>
          <p:cNvPr id="12" name="">
            <a:extLst xmlns:a="http://schemas.openxmlformats.org/drawingml/2006/main">
              <a:ext uri="{FF2B5EF4-FFF2-40B4-BE49-F238E27FC236}">
                <a16:creationId xmlns:a16="http://schemas.microsoft.com/office/drawing/2014/main" id="{7672C42C-B65A-4D33-AAAA-EF6D3A65ABE6}"/>
              </a:ext>
            </a:extLst>
          </p:cNvPr>
          <p:cNvSpPr>
            <a:spLocks xmlns:a="http://schemas.openxmlformats.org/drawingml/2006/main" noGrp="1"/>
          </p:cNvSpPr>
          <p:nvPr/>
        </p:nvSpPr>
        <p:spPr>
          <a:xfrm xmlns:a="http://schemas.openxmlformats.org/drawingml/2006/main">
            <a:off x="3095625" y="46291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Sales, inventory, labor and actionable operating insight.</a:t>
            </a:r>
          </a:p>
        </p:txBody>
      </p:sp>
      <p:sp>
        <p:nvSpPr>
          <p:cNvPr id="13" name="">
            <a:extLst xmlns:a="http://schemas.openxmlformats.org/drawingml/2006/main">
              <a:ext uri="{FF2B5EF4-FFF2-40B4-BE49-F238E27FC236}">
                <a16:creationId xmlns:a16="http://schemas.microsoft.com/office/drawing/2014/main" id="{FC7B9887-DE8B-419A-A008-B0218158B48D}"/>
              </a:ext>
            </a:extLst>
          </p:cNvPr>
          <p:cNvSpPr>
            <a:spLocks xmlns:a="http://schemas.openxmlformats.org/drawingml/2006/main" noGrp="1"/>
          </p:cNvSpPr>
          <p:nvPr/>
        </p:nvSpPr>
        <p:spPr>
          <a:xfrm xmlns:a="http://schemas.openxmlformats.org/drawingml/2006/main">
            <a:off x="6572250" y="32385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Drive-Thru</a:t>
            </a:r>
          </a:p>
        </p:txBody>
      </p:sp>
      <p:sp>
        <p:nvSpPr>
          <p:cNvPr id="14" name="">
            <a:extLst xmlns:a="http://schemas.openxmlformats.org/drawingml/2006/main">
              <a:ext uri="{FF2B5EF4-FFF2-40B4-BE49-F238E27FC236}">
                <a16:creationId xmlns:a16="http://schemas.microsoft.com/office/drawing/2014/main" id="{34A29AA4-49C0-4102-882D-F91DB5784E23}"/>
              </a:ext>
            </a:extLst>
          </p:cNvPr>
          <p:cNvSpPr>
            <a:spLocks xmlns:a="http://schemas.openxmlformats.org/drawingml/2006/main" noGrp="1"/>
          </p:cNvSpPr>
          <p:nvPr/>
        </p:nvSpPr>
        <p:spPr>
          <a:xfrm xmlns:a="http://schemas.openxmlformats.org/drawingml/2006/main">
            <a:off x="8858250" y="325755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Throughput, order sequence, cameras, timers and voice AI.</a:t>
            </a:r>
          </a:p>
        </p:txBody>
      </p:sp>
      <p:sp>
        <p:nvSpPr>
          <p:cNvPr id="15" name="">
            <a:extLst xmlns:a="http://schemas.openxmlformats.org/drawingml/2006/main">
              <a:ext uri="{FF2B5EF4-FFF2-40B4-BE49-F238E27FC236}">
                <a16:creationId xmlns:a16="http://schemas.microsoft.com/office/drawing/2014/main" id="{8DF2EA36-F8AA-4566-A09C-C807FFE5D95A}"/>
              </a:ext>
            </a:extLst>
          </p:cNvPr>
          <p:cNvSpPr>
            <a:spLocks xmlns:a="http://schemas.openxmlformats.org/drawingml/2006/main" noGrp="1"/>
          </p:cNvSpPr>
          <p:nvPr/>
        </p:nvSpPr>
        <p:spPr>
          <a:xfrm xmlns:a="http://schemas.openxmlformats.org/drawingml/2006/main">
            <a:off x="6572250" y="39243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Digital Menu Boards</a:t>
            </a:r>
          </a:p>
        </p:txBody>
      </p:sp>
      <p:sp>
        <p:nvSpPr>
          <p:cNvPr id="16" name="">
            <a:extLst xmlns:a="http://schemas.openxmlformats.org/drawingml/2006/main">
              <a:ext uri="{FF2B5EF4-FFF2-40B4-BE49-F238E27FC236}">
                <a16:creationId xmlns:a16="http://schemas.microsoft.com/office/drawing/2014/main" id="{4DBE6079-BA1B-4701-A18C-2B752FF85B61}"/>
              </a:ext>
            </a:extLst>
          </p:cNvPr>
          <p:cNvSpPr>
            <a:spLocks xmlns:a="http://schemas.openxmlformats.org/drawingml/2006/main" noGrp="1"/>
          </p:cNvSpPr>
          <p:nvPr/>
        </p:nvSpPr>
        <p:spPr>
          <a:xfrm xmlns:a="http://schemas.openxmlformats.org/drawingml/2006/main">
            <a:off x="8858250" y="394335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Real-time menu updates, pricing sync and suggestive selling.</a:t>
            </a:r>
          </a:p>
        </p:txBody>
      </p:sp>
      <p:sp>
        <p:nvSpPr>
          <p:cNvPr id="17" name="">
            <a:extLst xmlns:a="http://schemas.openxmlformats.org/drawingml/2006/main">
              <a:ext uri="{FF2B5EF4-FFF2-40B4-BE49-F238E27FC236}">
                <a16:creationId xmlns:a16="http://schemas.microsoft.com/office/drawing/2014/main" id="{D1359420-F35A-4BA4-9A9A-7DB2ADDB358A}"/>
              </a:ext>
            </a:extLst>
          </p:cNvPr>
          <p:cNvSpPr>
            <a:spLocks xmlns:a="http://schemas.openxmlformats.org/drawingml/2006/main" noGrp="1"/>
          </p:cNvSpPr>
          <p:nvPr/>
        </p:nvSpPr>
        <p:spPr>
          <a:xfrm xmlns:a="http://schemas.openxmlformats.org/drawingml/2006/main">
            <a:off x="6572250" y="46101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62033"/>
                </a:solidFill>
              </a:defRPr>
            </a:pPr>
            <a:r>
              <a:rPr sz="1725" b="1">
                <a:solidFill>
                  <a:srgbClr val="162033"/>
                </a:solidFill>
              </a:rPr>
              <a:t>Kiosk</a:t>
            </a:r>
          </a:p>
        </p:txBody>
      </p:sp>
      <p:sp>
        <p:nvSpPr>
          <p:cNvPr id="18" name="">
            <a:extLst xmlns:a="http://schemas.openxmlformats.org/drawingml/2006/main">
              <a:ext uri="{FF2B5EF4-FFF2-40B4-BE49-F238E27FC236}">
                <a16:creationId xmlns:a16="http://schemas.microsoft.com/office/drawing/2014/main" id="{B538E383-1663-494F-BD28-89A9FB4AD8C9}"/>
              </a:ext>
            </a:extLst>
          </p:cNvPr>
          <p:cNvSpPr>
            <a:spLocks xmlns:a="http://schemas.openxmlformats.org/drawingml/2006/main" noGrp="1"/>
          </p:cNvSpPr>
          <p:nvPr/>
        </p:nvSpPr>
        <p:spPr>
          <a:xfrm xmlns:a="http://schemas.openxmlformats.org/drawingml/2006/main">
            <a:off x="8858250" y="462915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2526E"/>
                </a:solidFill>
              </a:defRPr>
            </a:pPr>
            <a:r>
              <a:rPr sz="1125" b="0">
                <a:solidFill>
                  <a:srgbClr val="42526E"/>
                </a:solidFill>
              </a:rPr>
              <a:t>Guest self-ordering, loyalty and payment options.</a:t>
            </a:r>
          </a:p>
        </p:txBody>
      </p:sp>
      <p:sp>
        <p:nvSpPr>
          <p:cNvPr id="19" name="">
            <a:extLst xmlns:a="http://schemas.openxmlformats.org/drawingml/2006/main">
              <a:ext uri="{FF2B5EF4-FFF2-40B4-BE49-F238E27FC236}">
                <a16:creationId xmlns:a16="http://schemas.microsoft.com/office/drawing/2014/main" id="{B90CA931-422D-46EA-AC92-446053F5590F}"/>
              </a:ext>
            </a:extLst>
          </p:cNvPr>
          <p:cNvSpPr>
            <a:spLocks xmlns:a="http://schemas.openxmlformats.org/drawingml/2006/main" noGrp="1"/>
          </p:cNvSpPr>
          <p:nvPr/>
        </p:nvSpPr>
        <p:spPr>
          <a:xfrm xmlns:a="http://schemas.openxmlformats.org/drawingml/2006/main">
            <a:off x="1333500" y="5572125"/>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62033"/>
                </a:solidFill>
              </a:defRPr>
            </a:pPr>
            <a:r>
              <a:rPr sz="1725" b="1">
                <a:solidFill>
                  <a:srgbClr val="162033"/>
                </a:solidFill>
              </a:rPr>
              <a:t>Payments is the common thread, but the business problem may live anywhere in the ecosystem.</a:t>
            </a:r>
          </a:p>
        </p:txBody>
      </p:sp>
      <p:sp>
        <p:nvSpPr>
          <p:cNvPr id="20" name="">
            <a:extLst xmlns:a="http://schemas.openxmlformats.org/drawingml/2006/main">
              <a:ext uri="{FF2B5EF4-FFF2-40B4-BE49-F238E27FC236}">
                <a16:creationId xmlns:a16="http://schemas.microsoft.com/office/drawing/2014/main" id="{F90FF546-71C5-44A8-8EE5-613CD61062B9}"/>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4BC9B50-DD8C-4CF8-BC20-42E5122511C5}"/>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22" name="">
            <a:extLst xmlns:a="http://schemas.openxmlformats.org/drawingml/2006/main">
              <a:ext uri="{FF2B5EF4-FFF2-40B4-BE49-F238E27FC236}">
                <a16:creationId xmlns:a16="http://schemas.microsoft.com/office/drawing/2014/main" id="{B7803801-3049-4038-A43D-F54253270242}"/>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06</a:t>
            </a:r>
          </a:p>
        </p:txBody>
      </p:sp>
    </p:spTree>
    <p:extLst>
      <p:ext uri="{BB962C8B-B14F-4D97-AF65-F5344CB8AC3E}">
        <p14:creationId xmlns:p14="http://schemas.microsoft.com/office/powerpoint/2010/main" val="17732246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7AB6F2E8-79CD-4278-82EE-7F4977905208}"/>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8FA67D22-5C4D-4575-A0BD-D9BBD0C83472}"/>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Store level: name the three operating zones</a:t>
            </a:r>
          </a:p>
        </p:txBody>
      </p:sp>
      <p:sp>
        <p:nvSpPr>
          <p:cNvPr id="3" name="">
            <a:extLst xmlns:a="http://schemas.openxmlformats.org/drawingml/2006/main">
              <a:ext uri="{FF2B5EF4-FFF2-40B4-BE49-F238E27FC236}">
                <a16:creationId xmlns:a16="http://schemas.microsoft.com/office/drawing/2014/main" id="{3F7E87E5-4156-4938-8A8C-570D97A6103F}"/>
              </a:ext>
            </a:extLst>
          </p:cNvPr>
          <p:cNvSpPr>
            <a:spLocks xmlns:a="http://schemas.openxmlformats.org/drawingml/2006/main" noGrp="1"/>
          </p:cNvSpPr>
          <p:nvPr/>
        </p:nvSpPr>
        <p:spPr>
          <a:xfrm xmlns:a="http://schemas.openxmlformats.org/drawingml/2006/main">
            <a:off x="685800" y="1952625"/>
            <a:ext cx="57150" cy="3190875"/>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1CAB6F-B4DD-40B4-8A21-30B2EA478558}"/>
              </a:ext>
            </a:extLst>
          </p:cNvPr>
          <p:cNvSpPr>
            <a:spLocks xmlns:a="http://schemas.openxmlformats.org/drawingml/2006/main" noGrp="1"/>
          </p:cNvSpPr>
          <p:nvPr/>
        </p:nvSpPr>
        <p:spPr>
          <a:xfrm xmlns:a="http://schemas.openxmlformats.org/drawingml/2006/main">
            <a:off x="876300" y="1952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Front of house</a:t>
            </a:r>
          </a:p>
        </p:txBody>
      </p:sp>
      <p:sp>
        <p:nvSpPr>
          <p:cNvPr id="5" name="">
            <a:extLst xmlns:a="http://schemas.openxmlformats.org/drawingml/2006/main">
              <a:ext uri="{FF2B5EF4-FFF2-40B4-BE49-F238E27FC236}">
                <a16:creationId xmlns:a16="http://schemas.microsoft.com/office/drawing/2014/main" id="{13BB73FD-A259-4F8E-84B4-5D74031B8353}"/>
              </a:ext>
            </a:extLst>
          </p:cNvPr>
          <p:cNvSpPr>
            <a:spLocks xmlns:a="http://schemas.openxmlformats.org/drawingml/2006/main" noGrp="1"/>
          </p:cNvSpPr>
          <p:nvPr/>
        </p:nvSpPr>
        <p:spPr>
          <a:xfrm xmlns:a="http://schemas.openxmlformats.org/drawingml/2006/main">
            <a:off x="876300" y="2409825"/>
            <a:ext cx="3238500" cy="2733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POS software and hardware</a:t>
            </a:r>
          </a:p>
          <a:p xmlns:a="http://schemas.openxmlformats.org/drawingml/2006/main">
            <a:pPr algn="l">
              <a:defRPr sz="1350" b="0">
                <a:solidFill>
                  <a:srgbClr val="42526E"/>
                </a:solidFill>
              </a:defRPr>
            </a:pPr>
            <a:r>
              <a:rPr sz="1350" b="0">
                <a:solidFill>
                  <a:srgbClr val="42526E"/>
                </a:solidFill>
              </a:rPr>
              <a:t>- Payment processing</a:t>
            </a:r>
          </a:p>
          <a:p xmlns:a="http://schemas.openxmlformats.org/drawingml/2006/main">
            <a:pPr algn="l">
              <a:defRPr sz="1350" b="0">
                <a:solidFill>
                  <a:srgbClr val="42526E"/>
                </a:solidFill>
              </a:defRPr>
            </a:pPr>
            <a:r>
              <a:rPr sz="1350" b="0">
                <a:solidFill>
                  <a:srgbClr val="42526E"/>
                </a:solidFill>
              </a:rPr>
              <a:t>- Contactless payments</a:t>
            </a:r>
          </a:p>
          <a:p xmlns:a="http://schemas.openxmlformats.org/drawingml/2006/main">
            <a:pPr algn="l">
              <a:defRPr sz="1350" b="0">
                <a:solidFill>
                  <a:srgbClr val="42526E"/>
                </a:solidFill>
              </a:defRPr>
            </a:pPr>
            <a:r>
              <a:rPr sz="1350" b="0">
                <a:solidFill>
                  <a:srgbClr val="42526E"/>
                </a:solidFill>
              </a:rPr>
              <a:t>- Online/mobile ordering and delivery</a:t>
            </a:r>
          </a:p>
          <a:p xmlns:a="http://schemas.openxmlformats.org/drawingml/2006/main">
            <a:pPr algn="l">
              <a:defRPr sz="1350" b="0">
                <a:solidFill>
                  <a:srgbClr val="42526E"/>
                </a:solidFill>
              </a:defRPr>
            </a:pPr>
            <a:r>
              <a:rPr sz="1350" b="0">
                <a:solidFill>
                  <a:srgbClr val="42526E"/>
                </a:solidFill>
              </a:rPr>
              <a:t>- Kiosk software and hardware</a:t>
            </a:r>
          </a:p>
          <a:p xmlns:a="http://schemas.openxmlformats.org/drawingml/2006/main">
            <a:pPr algn="l">
              <a:defRPr sz="1350" b="0">
                <a:solidFill>
                  <a:srgbClr val="42526E"/>
                </a:solidFill>
              </a:defRPr>
            </a:pPr>
            <a:r>
              <a:rPr sz="1350" b="0">
                <a:solidFill>
                  <a:srgbClr val="42526E"/>
                </a:solidFill>
              </a:rPr>
              <a:t>- Indoor digital menu boards</a:t>
            </a:r>
          </a:p>
        </p:txBody>
      </p:sp>
      <p:sp>
        <p:nvSpPr>
          <p:cNvPr id="6" name="">
            <a:extLst xmlns:a="http://schemas.openxmlformats.org/drawingml/2006/main">
              <a:ext uri="{FF2B5EF4-FFF2-40B4-BE49-F238E27FC236}">
                <a16:creationId xmlns:a16="http://schemas.microsoft.com/office/drawing/2014/main" id="{39629035-1CC0-434A-8773-B7F1DB2DD470}"/>
              </a:ext>
            </a:extLst>
          </p:cNvPr>
          <p:cNvSpPr>
            <a:spLocks xmlns:a="http://schemas.openxmlformats.org/drawingml/2006/main" noGrp="1"/>
          </p:cNvSpPr>
          <p:nvPr/>
        </p:nvSpPr>
        <p:spPr>
          <a:xfrm xmlns:a="http://schemas.openxmlformats.org/drawingml/2006/main">
            <a:off x="4381500" y="1952625"/>
            <a:ext cx="57150" cy="3190875"/>
          </a:xfrm>
          <a:prstGeom xmlns:a="http://schemas.openxmlformats.org/drawingml/2006/main" prst="rect">
            <a:avLst/>
          </a:prstGeom>
          <a:solidFill xmlns:a="http://schemas.openxmlformats.org/drawingml/2006/main">
            <a:srgbClr val="D982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D15650-7475-4F89-9B56-DA2C4655AD8C}"/>
              </a:ext>
            </a:extLst>
          </p:cNvPr>
          <p:cNvSpPr>
            <a:spLocks xmlns:a="http://schemas.openxmlformats.org/drawingml/2006/main" noGrp="1"/>
          </p:cNvSpPr>
          <p:nvPr/>
        </p:nvSpPr>
        <p:spPr>
          <a:xfrm xmlns:a="http://schemas.openxmlformats.org/drawingml/2006/main">
            <a:off x="4572000" y="1952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Middle of house</a:t>
            </a:r>
          </a:p>
        </p:txBody>
      </p:sp>
      <p:sp>
        <p:nvSpPr>
          <p:cNvPr id="8" name="">
            <a:extLst xmlns:a="http://schemas.openxmlformats.org/drawingml/2006/main">
              <a:ext uri="{FF2B5EF4-FFF2-40B4-BE49-F238E27FC236}">
                <a16:creationId xmlns:a16="http://schemas.microsoft.com/office/drawing/2014/main" id="{F2815C8E-8092-4EDD-AE97-2622063A0A50}"/>
              </a:ext>
            </a:extLst>
          </p:cNvPr>
          <p:cNvSpPr>
            <a:spLocks xmlns:a="http://schemas.openxmlformats.org/drawingml/2006/main" noGrp="1"/>
          </p:cNvSpPr>
          <p:nvPr/>
        </p:nvSpPr>
        <p:spPr>
          <a:xfrm xmlns:a="http://schemas.openxmlformats.org/drawingml/2006/main">
            <a:off x="4572000" y="2409825"/>
            <a:ext cx="3238500" cy="2733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Kitchen manager</a:t>
            </a:r>
          </a:p>
          <a:p xmlns:a="http://schemas.openxmlformats.org/drawingml/2006/main">
            <a:pPr algn="l">
              <a:defRPr sz="1350" b="0">
                <a:solidFill>
                  <a:srgbClr val="42526E"/>
                </a:solidFill>
              </a:defRPr>
            </a:pPr>
            <a:r>
              <a:rPr sz="1350" b="0">
                <a:solidFill>
                  <a:srgbClr val="42526E"/>
                </a:solidFill>
              </a:rPr>
              <a:t>- KDS</a:t>
            </a:r>
          </a:p>
          <a:p xmlns:a="http://schemas.openxmlformats.org/drawingml/2006/main">
            <a:pPr algn="l">
              <a:defRPr sz="1350" b="0">
                <a:solidFill>
                  <a:srgbClr val="42526E"/>
                </a:solidFill>
              </a:defRPr>
            </a:pPr>
            <a:r>
              <a:rPr sz="1350" b="0">
                <a:solidFill>
                  <a:srgbClr val="42526E"/>
                </a:solidFill>
              </a:rPr>
              <a:t>- Order management</a:t>
            </a:r>
          </a:p>
          <a:p xmlns:a="http://schemas.openxmlformats.org/drawingml/2006/main">
            <a:pPr algn="l">
              <a:defRPr sz="1350" b="0">
                <a:solidFill>
                  <a:srgbClr val="42526E"/>
                </a:solidFill>
              </a:defRPr>
            </a:pPr>
            <a:r>
              <a:rPr sz="1350" b="0">
                <a:solidFill>
                  <a:srgbClr val="42526E"/>
                </a:solidFill>
              </a:rPr>
              <a:t>- Fulfillment management</a:t>
            </a:r>
          </a:p>
          <a:p xmlns:a="http://schemas.openxmlformats.org/drawingml/2006/main">
            <a:pPr algn="l">
              <a:defRPr sz="1350" b="0">
                <a:solidFill>
                  <a:srgbClr val="42526E"/>
                </a:solidFill>
              </a:defRPr>
            </a:pPr>
            <a:r>
              <a:rPr sz="1350" b="0">
                <a:solidFill>
                  <a:srgbClr val="42526E"/>
                </a:solidFill>
              </a:rPr>
              <a:t>- Employee tracking and training</a:t>
            </a:r>
          </a:p>
        </p:txBody>
      </p:sp>
      <p:sp>
        <p:nvSpPr>
          <p:cNvPr id="9" name="">
            <a:extLst xmlns:a="http://schemas.openxmlformats.org/drawingml/2006/main">
              <a:ext uri="{FF2B5EF4-FFF2-40B4-BE49-F238E27FC236}">
                <a16:creationId xmlns:a16="http://schemas.microsoft.com/office/drawing/2014/main" id="{7D4B0C8C-C929-4238-90C8-B24492FE4885}"/>
              </a:ext>
            </a:extLst>
          </p:cNvPr>
          <p:cNvSpPr>
            <a:spLocks xmlns:a="http://schemas.openxmlformats.org/drawingml/2006/main" noGrp="1"/>
          </p:cNvSpPr>
          <p:nvPr/>
        </p:nvSpPr>
        <p:spPr>
          <a:xfrm xmlns:a="http://schemas.openxmlformats.org/drawingml/2006/main">
            <a:off x="8077200" y="1952625"/>
            <a:ext cx="57150" cy="3190875"/>
          </a:xfrm>
          <a:prstGeom xmlns:a="http://schemas.openxmlformats.org/drawingml/2006/main" prst="rect">
            <a:avLst/>
          </a:prstGeom>
          <a:solidFill xmlns:a="http://schemas.openxmlformats.org/drawingml/2006/main">
            <a:srgbClr val="00A3A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6F863F-DE2A-431C-AE76-560DD593B3BD}"/>
              </a:ext>
            </a:extLst>
          </p:cNvPr>
          <p:cNvSpPr>
            <a:spLocks xmlns:a="http://schemas.openxmlformats.org/drawingml/2006/main" noGrp="1"/>
          </p:cNvSpPr>
          <p:nvPr/>
        </p:nvSpPr>
        <p:spPr>
          <a:xfrm xmlns:a="http://schemas.openxmlformats.org/drawingml/2006/main">
            <a:off x="8267700" y="19526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Drive-thru</a:t>
            </a:r>
          </a:p>
        </p:txBody>
      </p:sp>
      <p:sp>
        <p:nvSpPr>
          <p:cNvPr id="11" name="">
            <a:extLst xmlns:a="http://schemas.openxmlformats.org/drawingml/2006/main">
              <a:ext uri="{FF2B5EF4-FFF2-40B4-BE49-F238E27FC236}">
                <a16:creationId xmlns:a16="http://schemas.microsoft.com/office/drawing/2014/main" id="{13EDA09B-4A5A-46EF-BB9F-D607AB963F51}"/>
              </a:ext>
            </a:extLst>
          </p:cNvPr>
          <p:cNvSpPr>
            <a:spLocks xmlns:a="http://schemas.openxmlformats.org/drawingml/2006/main" noGrp="1"/>
          </p:cNvSpPr>
          <p:nvPr/>
        </p:nvSpPr>
        <p:spPr>
          <a:xfrm xmlns:a="http://schemas.openxmlformats.org/drawingml/2006/main">
            <a:off x="8267700" y="2409825"/>
            <a:ext cx="3238500" cy="2733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Outdoor digital menu boards</a:t>
            </a:r>
          </a:p>
          <a:p xmlns:a="http://schemas.openxmlformats.org/drawingml/2006/main">
            <a:pPr algn="l">
              <a:defRPr sz="1350" b="0">
                <a:solidFill>
                  <a:srgbClr val="42526E"/>
                </a:solidFill>
              </a:defRPr>
            </a:pPr>
            <a:r>
              <a:rPr sz="1350" b="0">
                <a:solidFill>
                  <a:srgbClr val="42526E"/>
                </a:solidFill>
              </a:rPr>
              <a:t>- Drive-thru manager</a:t>
            </a:r>
          </a:p>
          <a:p xmlns:a="http://schemas.openxmlformats.org/drawingml/2006/main">
            <a:pPr algn="l">
              <a:defRPr sz="1350" b="0">
                <a:solidFill>
                  <a:srgbClr val="42526E"/>
                </a:solidFill>
              </a:defRPr>
            </a:pPr>
            <a:r>
              <a:rPr sz="1350" b="0">
                <a:solidFill>
                  <a:srgbClr val="42526E"/>
                </a:solidFill>
              </a:rPr>
              <a:t>- Drive-thru vision</a:t>
            </a:r>
          </a:p>
          <a:p xmlns:a="http://schemas.openxmlformats.org/drawingml/2006/main">
            <a:pPr algn="l">
              <a:defRPr sz="1350" b="0">
                <a:solidFill>
                  <a:srgbClr val="42526E"/>
                </a:solidFill>
              </a:defRPr>
            </a:pPr>
            <a:r>
              <a:rPr sz="1350" b="0">
                <a:solidFill>
                  <a:srgbClr val="42526E"/>
                </a:solidFill>
              </a:rPr>
              <a:t>- Handheld POS</a:t>
            </a:r>
          </a:p>
          <a:p xmlns:a="http://schemas.openxmlformats.org/drawingml/2006/main">
            <a:pPr algn="l">
              <a:defRPr sz="1350" b="0">
                <a:solidFill>
                  <a:srgbClr val="42526E"/>
                </a:solidFill>
              </a:defRPr>
            </a:pPr>
            <a:r>
              <a:rPr sz="1350" b="0">
                <a:solidFill>
                  <a:srgbClr val="42526E"/>
                </a:solidFill>
              </a:rPr>
              <a:t>- Voice AI ordering integrations</a:t>
            </a:r>
          </a:p>
        </p:txBody>
      </p:sp>
      <p:sp>
        <p:nvSpPr>
          <p:cNvPr id="12" name="">
            <a:extLst xmlns:a="http://schemas.openxmlformats.org/drawingml/2006/main">
              <a:ext uri="{FF2B5EF4-FFF2-40B4-BE49-F238E27FC236}">
                <a16:creationId xmlns:a16="http://schemas.microsoft.com/office/drawing/2014/main" id="{FDC7887F-C27E-48C9-A5FA-4261767DCC03}"/>
              </a:ext>
            </a:extLst>
          </p:cNvPr>
          <p:cNvSpPr>
            <a:spLocks xmlns:a="http://schemas.openxmlformats.org/drawingml/2006/main" noGrp="1"/>
          </p:cNvSpPr>
          <p:nvPr/>
        </p:nvSpPr>
        <p:spPr>
          <a:xfrm xmlns:a="http://schemas.openxmlformats.org/drawingml/2006/main">
            <a:off x="1257300" y="5476875"/>
            <a:ext cx="967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62033"/>
                </a:solidFill>
              </a:defRPr>
            </a:pPr>
            <a:r>
              <a:rPr sz="1725" b="1">
                <a:solidFill>
                  <a:srgbClr val="162033"/>
                </a:solidFill>
              </a:rPr>
              <a:t>This is the vocabulary layer: RMs do not need to demo it, but they should recognize it.</a:t>
            </a:r>
          </a:p>
        </p:txBody>
      </p:sp>
      <p:sp>
        <p:nvSpPr>
          <p:cNvPr id="13" name="">
            <a:extLst xmlns:a="http://schemas.openxmlformats.org/drawingml/2006/main">
              <a:ext uri="{FF2B5EF4-FFF2-40B4-BE49-F238E27FC236}">
                <a16:creationId xmlns:a16="http://schemas.microsoft.com/office/drawing/2014/main" id="{3527D007-9195-4785-8747-C4FE5ED394EC}"/>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1E5165-FF43-4D15-A5DF-FD66D1F5F123}"/>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5" name="">
            <a:extLst xmlns:a="http://schemas.openxmlformats.org/drawingml/2006/main">
              <a:ext uri="{FF2B5EF4-FFF2-40B4-BE49-F238E27FC236}">
                <a16:creationId xmlns:a16="http://schemas.microsoft.com/office/drawing/2014/main" id="{893D8FCF-0648-4C74-B934-2A386BFF76FA}"/>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07</a:t>
            </a:r>
          </a:p>
        </p:txBody>
      </p:sp>
    </p:spTree>
    <p:extLst>
      <p:ext uri="{BB962C8B-B14F-4D97-AF65-F5344CB8AC3E}">
        <p14:creationId xmlns:p14="http://schemas.microsoft.com/office/powerpoint/2010/main" val="612275780"/>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A904F47E-4BFE-46ED-AEEC-1EB9D0571562}"/>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DE543CF3-26CC-4099-AB89-42CCC63A6E63}"/>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A payment sits inside a much larger restaurant workflow</a:t>
            </a:r>
          </a:p>
        </p:txBody>
      </p:sp>
      <p:sp>
        <p:nvSpPr>
          <p:cNvPr id="3" name="">
            <a:extLst xmlns:a="http://schemas.openxmlformats.org/drawingml/2006/main">
              <a:ext uri="{FF2B5EF4-FFF2-40B4-BE49-F238E27FC236}">
                <a16:creationId xmlns:a16="http://schemas.microsoft.com/office/drawing/2014/main" id="{4DA8EB51-CD89-475A-9588-AFF9A779F168}"/>
              </a:ext>
            </a:extLst>
          </p:cNvPr>
          <p:cNvSpPr>
            <a:spLocks xmlns:a="http://schemas.openxmlformats.org/drawingml/2006/main" noGrp="1"/>
          </p:cNvSpPr>
          <p:nvPr/>
        </p:nvSpPr>
        <p:spPr>
          <a:xfrm xmlns:a="http://schemas.openxmlformats.org/drawingml/2006/main">
            <a:off x="914400" y="18288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62033"/>
                </a:solidFill>
              </a:defRPr>
            </a:pPr>
            <a:r>
              <a:rPr sz="1875" b="1">
                <a:solidFill>
                  <a:srgbClr val="162033"/>
                </a:solidFill>
              </a:rPr>
              <a:t>Guest demand can enter through many channels:</a:t>
            </a:r>
          </a:p>
        </p:txBody>
      </p:sp>
      <p:sp>
        <p:nvSpPr>
          <p:cNvPr id="4" name="">
            <a:extLst xmlns:a="http://schemas.openxmlformats.org/drawingml/2006/main">
              <a:ext uri="{FF2B5EF4-FFF2-40B4-BE49-F238E27FC236}">
                <a16:creationId xmlns:a16="http://schemas.microsoft.com/office/drawing/2014/main" id="{2A6F535C-88CC-4BB2-98A3-428C9D91DB66}"/>
              </a:ext>
            </a:extLst>
          </p:cNvPr>
          <p:cNvSpPr>
            <a:spLocks xmlns:a="http://schemas.openxmlformats.org/drawingml/2006/main" noGrp="1"/>
          </p:cNvSpPr>
          <p:nvPr/>
        </p:nvSpPr>
        <p:spPr>
          <a:xfrm xmlns:a="http://schemas.openxmlformats.org/drawingml/2006/main">
            <a:off x="838200" y="2381250"/>
            <a:ext cx="1676400" cy="552450"/>
          </a:xfrm>
          <a:prstGeom xmlns:a="http://schemas.openxmlformats.org/drawingml/2006/main" prst="roundRect">
            <a:avLst>
              <a:gd name="adj" fmla="val 13793"/>
            </a:avLst>
          </a:prstGeom>
          <a:solidFill xmlns:a="http://schemas.openxmlformats.org/drawingml/2006/main">
            <a:srgbClr val="155EE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Counter POS</a:t>
            </a:r>
          </a:p>
        </p:txBody>
      </p:sp>
      <p:sp>
        <p:nvSpPr>
          <p:cNvPr id="5" name="">
            <a:extLst xmlns:a="http://schemas.openxmlformats.org/drawingml/2006/main">
              <a:ext uri="{FF2B5EF4-FFF2-40B4-BE49-F238E27FC236}">
                <a16:creationId xmlns:a16="http://schemas.microsoft.com/office/drawing/2014/main" id="{8DCE190C-5964-46C9-903C-F6A9BC0A8F27}"/>
              </a:ext>
            </a:extLst>
          </p:cNvPr>
          <p:cNvSpPr>
            <a:spLocks xmlns:a="http://schemas.openxmlformats.org/drawingml/2006/main" noGrp="1"/>
          </p:cNvSpPr>
          <p:nvPr/>
        </p:nvSpPr>
        <p:spPr>
          <a:xfrm xmlns:a="http://schemas.openxmlformats.org/drawingml/2006/main">
            <a:off x="2628900" y="2381250"/>
            <a:ext cx="1676400" cy="552450"/>
          </a:xfrm>
          <a:prstGeom xmlns:a="http://schemas.openxmlformats.org/drawingml/2006/main" prst="roundRect">
            <a:avLst>
              <a:gd name="adj" fmla="val 13793"/>
            </a:avLst>
          </a:prstGeom>
          <a:solidFill xmlns:a="http://schemas.openxmlformats.org/drawingml/2006/main">
            <a:srgbClr val="D9822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Drive-thru</a:t>
            </a:r>
          </a:p>
        </p:txBody>
      </p:sp>
      <p:sp>
        <p:nvSpPr>
          <p:cNvPr id="6" name="">
            <a:extLst xmlns:a="http://schemas.openxmlformats.org/drawingml/2006/main">
              <a:ext uri="{FF2B5EF4-FFF2-40B4-BE49-F238E27FC236}">
                <a16:creationId xmlns:a16="http://schemas.microsoft.com/office/drawing/2014/main" id="{502BD0A2-EB51-4845-BB82-C53A5B7FF1AF}"/>
              </a:ext>
            </a:extLst>
          </p:cNvPr>
          <p:cNvSpPr>
            <a:spLocks xmlns:a="http://schemas.openxmlformats.org/drawingml/2006/main" noGrp="1"/>
          </p:cNvSpPr>
          <p:nvPr/>
        </p:nvSpPr>
        <p:spPr>
          <a:xfrm xmlns:a="http://schemas.openxmlformats.org/drawingml/2006/main">
            <a:off x="4419600" y="2381250"/>
            <a:ext cx="1676400" cy="552450"/>
          </a:xfrm>
          <a:prstGeom xmlns:a="http://schemas.openxmlformats.org/drawingml/2006/main" prst="roundRect">
            <a:avLst>
              <a:gd name="adj" fmla="val 13793"/>
            </a:avLst>
          </a:prstGeom>
          <a:solidFill xmlns:a="http://schemas.openxmlformats.org/drawingml/2006/main">
            <a:srgbClr val="00A3A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Online orders</a:t>
            </a:r>
          </a:p>
        </p:txBody>
      </p:sp>
      <p:sp>
        <p:nvSpPr>
          <p:cNvPr id="7" name="">
            <a:extLst xmlns:a="http://schemas.openxmlformats.org/drawingml/2006/main">
              <a:ext uri="{FF2B5EF4-FFF2-40B4-BE49-F238E27FC236}">
                <a16:creationId xmlns:a16="http://schemas.microsoft.com/office/drawing/2014/main" id="{712D47B3-F960-4FF0-BF38-2DEA599C1D2C}"/>
              </a:ext>
            </a:extLst>
          </p:cNvPr>
          <p:cNvSpPr>
            <a:spLocks xmlns:a="http://schemas.openxmlformats.org/drawingml/2006/main" noGrp="1"/>
          </p:cNvSpPr>
          <p:nvPr/>
        </p:nvSpPr>
        <p:spPr>
          <a:xfrm xmlns:a="http://schemas.openxmlformats.org/drawingml/2006/main">
            <a:off x="6210300" y="2381250"/>
            <a:ext cx="1676400" cy="552450"/>
          </a:xfrm>
          <a:prstGeom xmlns:a="http://schemas.openxmlformats.org/drawingml/2006/main" prst="roundRect">
            <a:avLst>
              <a:gd name="adj" fmla="val 13793"/>
            </a:avLst>
          </a:prstGeom>
          <a:solidFill xmlns:a="http://schemas.openxmlformats.org/drawingml/2006/main">
            <a:srgbClr val="5E4DB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Kiosk</a:t>
            </a:r>
          </a:p>
        </p:txBody>
      </p:sp>
      <p:sp>
        <p:nvSpPr>
          <p:cNvPr id="8" name="">
            <a:extLst xmlns:a="http://schemas.openxmlformats.org/drawingml/2006/main">
              <a:ext uri="{FF2B5EF4-FFF2-40B4-BE49-F238E27FC236}">
                <a16:creationId xmlns:a16="http://schemas.microsoft.com/office/drawing/2014/main" id="{A99CC3C6-5D46-4029-9FFC-87A618888B0E}"/>
              </a:ext>
            </a:extLst>
          </p:cNvPr>
          <p:cNvSpPr>
            <a:spLocks xmlns:a="http://schemas.openxmlformats.org/drawingml/2006/main" noGrp="1"/>
          </p:cNvSpPr>
          <p:nvPr/>
        </p:nvSpPr>
        <p:spPr>
          <a:xfrm xmlns:a="http://schemas.openxmlformats.org/drawingml/2006/main">
            <a:off x="8001000" y="2381250"/>
            <a:ext cx="1676400" cy="552450"/>
          </a:xfrm>
          <a:prstGeom xmlns:a="http://schemas.openxmlformats.org/drawingml/2006/main" prst="roundRect">
            <a:avLst>
              <a:gd name="adj" fmla="val 13793"/>
            </a:avLst>
          </a:prstGeom>
          <a:solidFill xmlns:a="http://schemas.openxmlformats.org/drawingml/2006/main">
            <a:srgbClr val="2E7D3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Delivery</a:t>
            </a:r>
          </a:p>
        </p:txBody>
      </p:sp>
      <p:sp>
        <p:nvSpPr>
          <p:cNvPr id="9" name="">
            <a:extLst xmlns:a="http://schemas.openxmlformats.org/drawingml/2006/main">
              <a:ext uri="{FF2B5EF4-FFF2-40B4-BE49-F238E27FC236}">
                <a16:creationId xmlns:a16="http://schemas.microsoft.com/office/drawing/2014/main" id="{162DE9B0-DAE9-4BCB-BAEB-8FA09B7322FC}"/>
              </a:ext>
            </a:extLst>
          </p:cNvPr>
          <p:cNvSpPr>
            <a:spLocks xmlns:a="http://schemas.openxmlformats.org/drawingml/2006/main" noGrp="1"/>
          </p:cNvSpPr>
          <p:nvPr/>
        </p:nvSpPr>
        <p:spPr>
          <a:xfrm xmlns:a="http://schemas.openxmlformats.org/drawingml/2006/main">
            <a:off x="9791700" y="2381250"/>
            <a:ext cx="1676400" cy="552450"/>
          </a:xfrm>
          <a:prstGeom xmlns:a="http://schemas.openxmlformats.org/drawingml/2006/main" prst="roundRect">
            <a:avLst>
              <a:gd name="adj" fmla="val 13793"/>
            </a:avLst>
          </a:prstGeom>
          <a:solidFill xmlns:a="http://schemas.openxmlformats.org/drawingml/2006/main">
            <a:srgbClr val="16203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Handheld</a:t>
            </a:r>
          </a:p>
        </p:txBody>
      </p:sp>
      <p:sp>
        <p:nvSpPr>
          <p:cNvPr id="10" name="">
            <a:extLst xmlns:a="http://schemas.openxmlformats.org/drawingml/2006/main">
              <a:ext uri="{FF2B5EF4-FFF2-40B4-BE49-F238E27FC236}">
                <a16:creationId xmlns:a16="http://schemas.microsoft.com/office/drawing/2014/main" id="{28AD327F-1397-42B9-A42A-1BE22B302B48}"/>
              </a:ext>
            </a:extLst>
          </p:cNvPr>
          <p:cNvSpPr>
            <a:spLocks xmlns:a="http://schemas.openxmlformats.org/drawingml/2006/main" noGrp="1"/>
          </p:cNvSpPr>
          <p:nvPr/>
        </p:nvSpPr>
        <p:spPr>
          <a:xfrm xmlns:a="http://schemas.openxmlformats.org/drawingml/2006/main">
            <a:off x="5619750" y="3067050"/>
            <a:ext cx="762000" cy="666750"/>
          </a:xfrm>
          <a:prstGeom xmlns:a="http://schemas.openxmlformats.org/drawingml/2006/main" prst="downArrow">
            <a:avLst/>
          </a:prstGeom>
          <a:solidFill xmlns:a="http://schemas.openxmlformats.org/drawingml/2006/main">
            <a:srgbClr val="155EE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BBCAA5-5D1D-411E-8BAE-0DFC9DA197C3}"/>
              </a:ext>
            </a:extLst>
          </p:cNvPr>
          <p:cNvSpPr>
            <a:spLocks xmlns:a="http://schemas.openxmlformats.org/drawingml/2006/main" noGrp="1"/>
          </p:cNvSpPr>
          <p:nvPr/>
        </p:nvSpPr>
        <p:spPr>
          <a:xfrm xmlns:a="http://schemas.openxmlformats.org/drawingml/2006/main">
            <a:off x="647700" y="4095750"/>
            <a:ext cx="1981200" cy="685800"/>
          </a:xfrm>
          <a:prstGeom xmlns:a="http://schemas.openxmlformats.org/drawingml/2006/main" prst="roundRect">
            <a:avLst>
              <a:gd name="adj" fmla="val 11111"/>
            </a:avLst>
          </a:prstGeom>
          <a:solidFill xmlns:a="http://schemas.openxmlformats.org/drawingml/2006/main">
            <a:srgbClr val="5E4DB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POS captures order</a:t>
            </a:r>
          </a:p>
        </p:txBody>
      </p:sp>
      <p:sp>
        <p:nvSpPr>
          <p:cNvPr id="12" name="">
            <a:extLst xmlns:a="http://schemas.openxmlformats.org/drawingml/2006/main">
              <a:ext uri="{FF2B5EF4-FFF2-40B4-BE49-F238E27FC236}">
                <a16:creationId xmlns:a16="http://schemas.microsoft.com/office/drawing/2014/main" id="{37E3086C-F140-4BAE-9A33-504D067428EA}"/>
              </a:ext>
            </a:extLst>
          </p:cNvPr>
          <p:cNvSpPr>
            <a:spLocks xmlns:a="http://schemas.openxmlformats.org/drawingml/2006/main" noGrp="1"/>
          </p:cNvSpPr>
          <p:nvPr/>
        </p:nvSpPr>
        <p:spPr>
          <a:xfrm xmlns:a="http://schemas.openxmlformats.org/drawingml/2006/main">
            <a:off x="2609850" y="4305300"/>
            <a:ext cx="419100" cy="285750"/>
          </a:xfrm>
          <a:prstGeom xmlns:a="http://schemas.openxmlformats.org/drawingml/2006/main" prst="rightArrow">
            <a:avLst/>
          </a:prstGeom>
          <a:solidFill xmlns:a="http://schemas.openxmlformats.org/drawingml/2006/main">
            <a:srgbClr val="9AA7B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076F12-2236-48DD-A604-4E74A3C9DD2C}"/>
              </a:ext>
            </a:extLst>
          </p:cNvPr>
          <p:cNvSpPr>
            <a:spLocks xmlns:a="http://schemas.openxmlformats.org/drawingml/2006/main" noGrp="1"/>
          </p:cNvSpPr>
          <p:nvPr/>
        </p:nvSpPr>
        <p:spPr>
          <a:xfrm xmlns:a="http://schemas.openxmlformats.org/drawingml/2006/main">
            <a:off x="2933700" y="4095750"/>
            <a:ext cx="1981200" cy="685800"/>
          </a:xfrm>
          <a:prstGeom xmlns:a="http://schemas.openxmlformats.org/drawingml/2006/main" prst="roundRect">
            <a:avLst>
              <a:gd name="adj" fmla="val 11111"/>
            </a:avLst>
          </a:prstGeom>
          <a:solidFill xmlns:a="http://schemas.openxmlformats.org/drawingml/2006/main">
            <a:srgbClr val="00A3A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Payment authorizes</a:t>
            </a:r>
          </a:p>
        </p:txBody>
      </p:sp>
      <p:sp>
        <p:nvSpPr>
          <p:cNvPr id="14" name="">
            <a:extLst xmlns:a="http://schemas.openxmlformats.org/drawingml/2006/main">
              <a:ext uri="{FF2B5EF4-FFF2-40B4-BE49-F238E27FC236}">
                <a16:creationId xmlns:a16="http://schemas.microsoft.com/office/drawing/2014/main" id="{02BD7F32-9F18-4AFA-A5B3-C819FC6B34CF}"/>
              </a:ext>
            </a:extLst>
          </p:cNvPr>
          <p:cNvSpPr>
            <a:spLocks xmlns:a="http://schemas.openxmlformats.org/drawingml/2006/main" noGrp="1"/>
          </p:cNvSpPr>
          <p:nvPr/>
        </p:nvSpPr>
        <p:spPr>
          <a:xfrm xmlns:a="http://schemas.openxmlformats.org/drawingml/2006/main">
            <a:off x="4895850" y="4305300"/>
            <a:ext cx="419100" cy="285750"/>
          </a:xfrm>
          <a:prstGeom xmlns:a="http://schemas.openxmlformats.org/drawingml/2006/main" prst="rightArrow">
            <a:avLst/>
          </a:prstGeom>
          <a:solidFill xmlns:a="http://schemas.openxmlformats.org/drawingml/2006/main">
            <a:srgbClr val="9AA7B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434ED4-0225-40AB-A146-E305F5047407}"/>
              </a:ext>
            </a:extLst>
          </p:cNvPr>
          <p:cNvSpPr>
            <a:spLocks xmlns:a="http://schemas.openxmlformats.org/drawingml/2006/main" noGrp="1"/>
          </p:cNvSpPr>
          <p:nvPr/>
        </p:nvSpPr>
        <p:spPr>
          <a:xfrm xmlns:a="http://schemas.openxmlformats.org/drawingml/2006/main">
            <a:off x="5219700" y="4095750"/>
            <a:ext cx="1981200" cy="685800"/>
          </a:xfrm>
          <a:prstGeom xmlns:a="http://schemas.openxmlformats.org/drawingml/2006/main" prst="roundRect">
            <a:avLst>
              <a:gd name="adj" fmla="val 11111"/>
            </a:avLst>
          </a:prstGeom>
          <a:solidFill xmlns:a="http://schemas.openxmlformats.org/drawingml/2006/main">
            <a:srgbClr val="155EE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Loyalty identifies guest</a:t>
            </a:r>
          </a:p>
        </p:txBody>
      </p:sp>
      <p:sp>
        <p:nvSpPr>
          <p:cNvPr id="16" name="">
            <a:extLst xmlns:a="http://schemas.openxmlformats.org/drawingml/2006/main">
              <a:ext uri="{FF2B5EF4-FFF2-40B4-BE49-F238E27FC236}">
                <a16:creationId xmlns:a16="http://schemas.microsoft.com/office/drawing/2014/main" id="{7C1B6BC5-5149-4AC0-B260-CB5418660E6A}"/>
              </a:ext>
            </a:extLst>
          </p:cNvPr>
          <p:cNvSpPr>
            <a:spLocks xmlns:a="http://schemas.openxmlformats.org/drawingml/2006/main" noGrp="1"/>
          </p:cNvSpPr>
          <p:nvPr/>
        </p:nvSpPr>
        <p:spPr>
          <a:xfrm xmlns:a="http://schemas.openxmlformats.org/drawingml/2006/main">
            <a:off x="7181850" y="4305300"/>
            <a:ext cx="419100" cy="285750"/>
          </a:xfrm>
          <a:prstGeom xmlns:a="http://schemas.openxmlformats.org/drawingml/2006/main" prst="rightArrow">
            <a:avLst/>
          </a:prstGeom>
          <a:solidFill xmlns:a="http://schemas.openxmlformats.org/drawingml/2006/main">
            <a:srgbClr val="9AA7B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2E290E-F6DE-4039-84B0-F9C544CAF40A}"/>
              </a:ext>
            </a:extLst>
          </p:cNvPr>
          <p:cNvSpPr>
            <a:spLocks xmlns:a="http://schemas.openxmlformats.org/drawingml/2006/main" noGrp="1"/>
          </p:cNvSpPr>
          <p:nvPr/>
        </p:nvSpPr>
        <p:spPr>
          <a:xfrm xmlns:a="http://schemas.openxmlformats.org/drawingml/2006/main">
            <a:off x="7505700" y="4095750"/>
            <a:ext cx="1981200" cy="685800"/>
          </a:xfrm>
          <a:prstGeom xmlns:a="http://schemas.openxmlformats.org/drawingml/2006/main" prst="roundRect">
            <a:avLst>
              <a:gd name="adj" fmla="val 11111"/>
            </a:avLst>
          </a:prstGeom>
          <a:solidFill xmlns:a="http://schemas.openxmlformats.org/drawingml/2006/main">
            <a:srgbClr val="D9822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KDS routes production</a:t>
            </a:r>
          </a:p>
        </p:txBody>
      </p:sp>
      <p:sp>
        <p:nvSpPr>
          <p:cNvPr id="18" name="">
            <a:extLst xmlns:a="http://schemas.openxmlformats.org/drawingml/2006/main">
              <a:ext uri="{FF2B5EF4-FFF2-40B4-BE49-F238E27FC236}">
                <a16:creationId xmlns:a16="http://schemas.microsoft.com/office/drawing/2014/main" id="{57C6200F-51F0-41F9-ACFC-8C84AF9487A3}"/>
              </a:ext>
            </a:extLst>
          </p:cNvPr>
          <p:cNvSpPr>
            <a:spLocks xmlns:a="http://schemas.openxmlformats.org/drawingml/2006/main" noGrp="1"/>
          </p:cNvSpPr>
          <p:nvPr/>
        </p:nvSpPr>
        <p:spPr>
          <a:xfrm xmlns:a="http://schemas.openxmlformats.org/drawingml/2006/main">
            <a:off x="9467850" y="4305300"/>
            <a:ext cx="419100" cy="285750"/>
          </a:xfrm>
          <a:prstGeom xmlns:a="http://schemas.openxmlformats.org/drawingml/2006/main" prst="rightArrow">
            <a:avLst/>
          </a:prstGeom>
          <a:solidFill xmlns:a="http://schemas.openxmlformats.org/drawingml/2006/main">
            <a:srgbClr val="9AA7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AD0450B-0644-4AEC-9B24-80206C55B828}"/>
              </a:ext>
            </a:extLst>
          </p:cNvPr>
          <p:cNvSpPr>
            <a:spLocks xmlns:a="http://schemas.openxmlformats.org/drawingml/2006/main" noGrp="1"/>
          </p:cNvSpPr>
          <p:nvPr/>
        </p:nvSpPr>
        <p:spPr>
          <a:xfrm xmlns:a="http://schemas.openxmlformats.org/drawingml/2006/main">
            <a:off x="9791700" y="4095750"/>
            <a:ext cx="1981200" cy="685800"/>
          </a:xfrm>
          <a:prstGeom xmlns:a="http://schemas.openxmlformats.org/drawingml/2006/main" prst="roundRect">
            <a:avLst>
              <a:gd name="adj" fmla="val 11111"/>
            </a:avLst>
          </a:prstGeom>
          <a:solidFill xmlns:a="http://schemas.openxmlformats.org/drawingml/2006/main">
            <a:srgbClr val="2E7D3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Reporting reconciles</a:t>
            </a:r>
          </a:p>
        </p:txBody>
      </p:sp>
      <p:sp>
        <p:nvSpPr>
          <p:cNvPr id="20" name="">
            <a:extLst xmlns:a="http://schemas.openxmlformats.org/drawingml/2006/main">
              <a:ext uri="{FF2B5EF4-FFF2-40B4-BE49-F238E27FC236}">
                <a16:creationId xmlns:a16="http://schemas.microsoft.com/office/drawing/2014/main" id="{5F4BEFB5-CEC2-4F4D-AFAC-5185927D9F7B}"/>
              </a:ext>
            </a:extLst>
          </p:cNvPr>
          <p:cNvSpPr>
            <a:spLocks xmlns:a="http://schemas.openxmlformats.org/drawingml/2006/main" noGrp="1"/>
          </p:cNvSpPr>
          <p:nvPr/>
        </p:nvSpPr>
        <p:spPr>
          <a:xfrm xmlns:a="http://schemas.openxmlformats.org/drawingml/2006/main">
            <a:off x="1066800" y="5381625"/>
            <a:ext cx="1005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62033"/>
                </a:solidFill>
              </a:defRPr>
            </a:pPr>
            <a:r>
              <a:rPr sz="1725" b="1">
                <a:solidFill>
                  <a:srgbClr val="162033"/>
                </a:solidFill>
              </a:rPr>
              <a:t>RM takeaway: when any channel, payment path, or kitchen handoff is fragmented, the merchant has platform pain.</a:t>
            </a:r>
          </a:p>
        </p:txBody>
      </p:sp>
      <p:sp>
        <p:nvSpPr>
          <p:cNvPr id="21" name="">
            <a:extLst xmlns:a="http://schemas.openxmlformats.org/drawingml/2006/main">
              <a:ext uri="{FF2B5EF4-FFF2-40B4-BE49-F238E27FC236}">
                <a16:creationId xmlns:a16="http://schemas.microsoft.com/office/drawing/2014/main" id="{9FE29236-5428-4CC8-97D8-EFF3ADCD59CD}"/>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EA54198-87BB-471E-9D74-6EB3C26A4B78}"/>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23" name="">
            <a:extLst xmlns:a="http://schemas.openxmlformats.org/drawingml/2006/main">
              <a:ext uri="{FF2B5EF4-FFF2-40B4-BE49-F238E27FC236}">
                <a16:creationId xmlns:a16="http://schemas.microsoft.com/office/drawing/2014/main" id="{5DFC845F-26F2-4C73-8B2F-5769B5371B61}"/>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08</a:t>
            </a:r>
          </a:p>
        </p:txBody>
      </p:sp>
    </p:spTree>
    <p:extLst>
      <p:ext uri="{BB962C8B-B14F-4D97-AF65-F5344CB8AC3E}">
        <p14:creationId xmlns:p14="http://schemas.microsoft.com/office/powerpoint/2010/main" val="3509505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80C8DF5D-ECCF-4CE5-BC05-074D21D2AF08}"/>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97BA9B15-DCB4-4FF3-81ED-7A1678351A31}"/>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Integrations show where payments touches the ecosystem</a:t>
            </a:r>
          </a:p>
        </p:txBody>
      </p:sp>
      <p:sp>
        <p:nvSpPr>
          <p:cNvPr id="3" name="">
            <a:extLst xmlns:a="http://schemas.openxmlformats.org/drawingml/2006/main">
              <a:ext uri="{FF2B5EF4-FFF2-40B4-BE49-F238E27FC236}">
                <a16:creationId xmlns:a16="http://schemas.microsoft.com/office/drawing/2014/main" id="{EA0BF231-9D40-416A-9A39-070E05727BC4}"/>
              </a:ext>
            </a:extLst>
          </p:cNvPr>
          <p:cNvSpPr>
            <a:spLocks xmlns:a="http://schemas.openxmlformats.org/drawingml/2006/main" noGrp="1"/>
          </p:cNvSpPr>
          <p:nvPr/>
        </p:nvSpPr>
        <p:spPr>
          <a:xfrm xmlns:a="http://schemas.openxmlformats.org/drawingml/2006/main">
            <a:off x="704850" y="2047875"/>
            <a:ext cx="57150" cy="257175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A8748C-5C0D-4C23-9045-36610A2CBA17}"/>
              </a:ext>
            </a:extLst>
          </p:cNvPr>
          <p:cNvSpPr>
            <a:spLocks xmlns:a="http://schemas.openxmlformats.org/drawingml/2006/main" noGrp="1"/>
          </p:cNvSpPr>
          <p:nvPr/>
        </p:nvSpPr>
        <p:spPr>
          <a:xfrm xmlns:a="http://schemas.openxmlformats.org/drawingml/2006/main">
            <a:off x="895350" y="20478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Order channels</a:t>
            </a:r>
          </a:p>
        </p:txBody>
      </p:sp>
      <p:sp>
        <p:nvSpPr>
          <p:cNvPr id="5" name="">
            <a:extLst xmlns:a="http://schemas.openxmlformats.org/drawingml/2006/main">
              <a:ext uri="{FF2B5EF4-FFF2-40B4-BE49-F238E27FC236}">
                <a16:creationId xmlns:a16="http://schemas.microsoft.com/office/drawing/2014/main" id="{0DBAD85D-050E-4E8C-8A90-3AF4F1D27954}"/>
              </a:ext>
            </a:extLst>
          </p:cNvPr>
          <p:cNvSpPr>
            <a:spLocks xmlns:a="http://schemas.openxmlformats.org/drawingml/2006/main" noGrp="1"/>
          </p:cNvSpPr>
          <p:nvPr/>
        </p:nvSpPr>
        <p:spPr>
          <a:xfrm xmlns:a="http://schemas.openxmlformats.org/drawingml/2006/main">
            <a:off x="895350" y="2505075"/>
            <a:ext cx="2952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Delivery</a:t>
            </a:r>
          </a:p>
          <a:p xmlns:a="http://schemas.openxmlformats.org/drawingml/2006/main">
            <a:pPr algn="l">
              <a:defRPr sz="1350" b="0">
                <a:solidFill>
                  <a:srgbClr val="42526E"/>
                </a:solidFill>
              </a:defRPr>
            </a:pPr>
            <a:r>
              <a:rPr sz="1350" b="0">
                <a:solidFill>
                  <a:srgbClr val="42526E"/>
                </a:solidFill>
              </a:rPr>
              <a:t>- Online ordering</a:t>
            </a:r>
          </a:p>
          <a:p xmlns:a="http://schemas.openxmlformats.org/drawingml/2006/main">
            <a:pPr algn="l">
              <a:defRPr sz="1350" b="0">
                <a:solidFill>
                  <a:srgbClr val="42526E"/>
                </a:solidFill>
              </a:defRPr>
            </a:pPr>
            <a:r>
              <a:rPr sz="1350" b="0">
                <a:solidFill>
                  <a:srgbClr val="42526E"/>
                </a:solidFill>
              </a:rPr>
              <a:t>- Kiosk</a:t>
            </a:r>
          </a:p>
          <a:p xmlns:a="http://schemas.openxmlformats.org/drawingml/2006/main">
            <a:pPr algn="l">
              <a:defRPr sz="1350" b="0">
                <a:solidFill>
                  <a:srgbClr val="42526E"/>
                </a:solidFill>
              </a:defRPr>
            </a:pPr>
            <a:r>
              <a:rPr sz="1350" b="0">
                <a:solidFill>
                  <a:srgbClr val="42526E"/>
                </a:solidFill>
              </a:rPr>
              <a:t>- Voice AI ordering</a:t>
            </a:r>
          </a:p>
        </p:txBody>
      </p:sp>
      <p:sp>
        <p:nvSpPr>
          <p:cNvPr id="6" name="">
            <a:extLst xmlns:a="http://schemas.openxmlformats.org/drawingml/2006/main">
              <a:ext uri="{FF2B5EF4-FFF2-40B4-BE49-F238E27FC236}">
                <a16:creationId xmlns:a16="http://schemas.microsoft.com/office/drawing/2014/main" id="{0C98311C-3806-4D0F-8FD0-7B4B7562F2EA}"/>
              </a:ext>
            </a:extLst>
          </p:cNvPr>
          <p:cNvSpPr>
            <a:spLocks xmlns:a="http://schemas.openxmlformats.org/drawingml/2006/main" noGrp="1"/>
          </p:cNvSpPr>
          <p:nvPr/>
        </p:nvSpPr>
        <p:spPr>
          <a:xfrm xmlns:a="http://schemas.openxmlformats.org/drawingml/2006/main">
            <a:off x="4514850" y="2047875"/>
            <a:ext cx="57150" cy="2571750"/>
          </a:xfrm>
          <a:prstGeom xmlns:a="http://schemas.openxmlformats.org/drawingml/2006/main" prst="rect">
            <a:avLst/>
          </a:prstGeom>
          <a:solidFill xmlns:a="http://schemas.openxmlformats.org/drawingml/2006/main">
            <a:srgbClr val="5E4DB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0E11BF-3262-49E8-ACFA-DE6DE740544C}"/>
              </a:ext>
            </a:extLst>
          </p:cNvPr>
          <p:cNvSpPr>
            <a:spLocks xmlns:a="http://schemas.openxmlformats.org/drawingml/2006/main" noGrp="1"/>
          </p:cNvSpPr>
          <p:nvPr/>
        </p:nvSpPr>
        <p:spPr>
          <a:xfrm xmlns:a="http://schemas.openxmlformats.org/drawingml/2006/main">
            <a:off x="4705350" y="20478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Guest + operations</a:t>
            </a:r>
          </a:p>
        </p:txBody>
      </p:sp>
      <p:sp>
        <p:nvSpPr>
          <p:cNvPr id="8" name="">
            <a:extLst xmlns:a="http://schemas.openxmlformats.org/drawingml/2006/main">
              <a:ext uri="{FF2B5EF4-FFF2-40B4-BE49-F238E27FC236}">
                <a16:creationId xmlns:a16="http://schemas.microsoft.com/office/drawing/2014/main" id="{5806452A-672D-41A9-AF3D-667684E39446}"/>
              </a:ext>
            </a:extLst>
          </p:cNvPr>
          <p:cNvSpPr>
            <a:spLocks xmlns:a="http://schemas.openxmlformats.org/drawingml/2006/main" noGrp="1"/>
          </p:cNvSpPr>
          <p:nvPr/>
        </p:nvSpPr>
        <p:spPr>
          <a:xfrm xmlns:a="http://schemas.openxmlformats.org/drawingml/2006/main">
            <a:off x="4705350" y="2505075"/>
            <a:ext cx="2952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Gift and loyalty</a:t>
            </a:r>
          </a:p>
          <a:p xmlns:a="http://schemas.openxmlformats.org/drawingml/2006/main">
            <a:pPr algn="l">
              <a:defRPr sz="1350" b="0">
                <a:solidFill>
                  <a:srgbClr val="42526E"/>
                </a:solidFill>
              </a:defRPr>
            </a:pPr>
            <a:r>
              <a:rPr sz="1350" b="0">
                <a:solidFill>
                  <a:srgbClr val="42526E"/>
                </a:solidFill>
              </a:rPr>
              <a:t>- Back office</a:t>
            </a:r>
          </a:p>
          <a:p xmlns:a="http://schemas.openxmlformats.org/drawingml/2006/main">
            <a:pPr algn="l">
              <a:defRPr sz="1350" b="0">
                <a:solidFill>
                  <a:srgbClr val="42526E"/>
                </a:solidFill>
              </a:defRPr>
            </a:pPr>
            <a:r>
              <a:rPr sz="1350" b="0">
                <a:solidFill>
                  <a:srgbClr val="42526E"/>
                </a:solidFill>
              </a:rPr>
              <a:t>- Labor and scheduling</a:t>
            </a:r>
          </a:p>
          <a:p xmlns:a="http://schemas.openxmlformats.org/drawingml/2006/main">
            <a:pPr algn="l">
              <a:defRPr sz="1350" b="0">
                <a:solidFill>
                  <a:srgbClr val="42526E"/>
                </a:solidFill>
              </a:defRPr>
            </a:pPr>
            <a:r>
              <a:rPr sz="1350" b="0">
                <a:solidFill>
                  <a:srgbClr val="42526E"/>
                </a:solidFill>
              </a:rPr>
              <a:t>- Reporting and data</a:t>
            </a:r>
          </a:p>
        </p:txBody>
      </p:sp>
      <p:sp>
        <p:nvSpPr>
          <p:cNvPr id="9" name="">
            <a:extLst xmlns:a="http://schemas.openxmlformats.org/drawingml/2006/main">
              <a:ext uri="{FF2B5EF4-FFF2-40B4-BE49-F238E27FC236}">
                <a16:creationId xmlns:a16="http://schemas.microsoft.com/office/drawing/2014/main" id="{02131899-7310-4460-A8B1-55B584956D8D}"/>
              </a:ext>
            </a:extLst>
          </p:cNvPr>
          <p:cNvSpPr>
            <a:spLocks xmlns:a="http://schemas.openxmlformats.org/drawingml/2006/main" noGrp="1"/>
          </p:cNvSpPr>
          <p:nvPr/>
        </p:nvSpPr>
        <p:spPr>
          <a:xfrm xmlns:a="http://schemas.openxmlformats.org/drawingml/2006/main">
            <a:off x="8324850" y="2047875"/>
            <a:ext cx="57150" cy="2571750"/>
          </a:xfrm>
          <a:prstGeom xmlns:a="http://schemas.openxmlformats.org/drawingml/2006/main" prst="rect">
            <a:avLst/>
          </a:prstGeom>
          <a:solidFill xmlns:a="http://schemas.openxmlformats.org/drawingml/2006/main">
            <a:srgbClr val="00A3A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664BDC-2E3B-4A34-879A-D0488F7240C7}"/>
              </a:ext>
            </a:extLst>
          </p:cNvPr>
          <p:cNvSpPr>
            <a:spLocks xmlns:a="http://schemas.openxmlformats.org/drawingml/2006/main" noGrp="1"/>
          </p:cNvSpPr>
          <p:nvPr/>
        </p:nvSpPr>
        <p:spPr>
          <a:xfrm xmlns:a="http://schemas.openxmlformats.org/drawingml/2006/main">
            <a:off x="8515350" y="20478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Money movement</a:t>
            </a:r>
          </a:p>
        </p:txBody>
      </p:sp>
      <p:sp>
        <p:nvSpPr>
          <p:cNvPr id="11" name="">
            <a:extLst xmlns:a="http://schemas.openxmlformats.org/drawingml/2006/main">
              <a:ext uri="{FF2B5EF4-FFF2-40B4-BE49-F238E27FC236}">
                <a16:creationId xmlns:a16="http://schemas.microsoft.com/office/drawing/2014/main" id="{9EB64EB7-FD78-44CE-BB19-9352777290F2}"/>
              </a:ext>
            </a:extLst>
          </p:cNvPr>
          <p:cNvSpPr>
            <a:spLocks xmlns:a="http://schemas.openxmlformats.org/drawingml/2006/main" noGrp="1"/>
          </p:cNvSpPr>
          <p:nvPr/>
        </p:nvSpPr>
        <p:spPr>
          <a:xfrm xmlns:a="http://schemas.openxmlformats.org/drawingml/2006/main">
            <a:off x="8515350" y="2505075"/>
            <a:ext cx="2952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Payment processing</a:t>
            </a:r>
          </a:p>
          <a:p xmlns:a="http://schemas.openxmlformats.org/drawingml/2006/main">
            <a:pPr algn="l">
              <a:defRPr sz="1350" b="0">
                <a:solidFill>
                  <a:srgbClr val="42526E"/>
                </a:solidFill>
              </a:defRPr>
            </a:pPr>
            <a:r>
              <a:rPr sz="1350" b="0">
                <a:solidFill>
                  <a:srgbClr val="42526E"/>
                </a:solidFill>
              </a:rPr>
              <a:t>- Contactless payments</a:t>
            </a:r>
          </a:p>
          <a:p xmlns:a="http://schemas.openxmlformats.org/drawingml/2006/main">
            <a:pPr algn="l">
              <a:defRPr sz="1350" b="0">
                <a:solidFill>
                  <a:srgbClr val="42526E"/>
                </a:solidFill>
              </a:defRPr>
            </a:pPr>
            <a:r>
              <a:rPr sz="1350" b="0">
                <a:solidFill>
                  <a:srgbClr val="42526E"/>
                </a:solidFill>
              </a:rPr>
              <a:t>- Gateways and routing</a:t>
            </a:r>
          </a:p>
          <a:p xmlns:a="http://schemas.openxmlformats.org/drawingml/2006/main">
            <a:pPr algn="l">
              <a:defRPr sz="1350" b="0">
                <a:solidFill>
                  <a:srgbClr val="42526E"/>
                </a:solidFill>
              </a:defRPr>
            </a:pPr>
            <a:r>
              <a:rPr sz="1350" b="0">
                <a:solidFill>
                  <a:srgbClr val="42526E"/>
                </a:solidFill>
              </a:rPr>
              <a:t>- Fraud, settlement, reconciliation</a:t>
            </a:r>
          </a:p>
        </p:txBody>
      </p:sp>
      <p:sp>
        <p:nvSpPr>
          <p:cNvPr id="12" name="">
            <a:extLst xmlns:a="http://schemas.openxmlformats.org/drawingml/2006/main">
              <a:ext uri="{FF2B5EF4-FFF2-40B4-BE49-F238E27FC236}">
                <a16:creationId xmlns:a16="http://schemas.microsoft.com/office/drawing/2014/main" id="{B0308F0B-1520-410D-A8FE-39079A1765FA}"/>
              </a:ext>
            </a:extLst>
          </p:cNvPr>
          <p:cNvSpPr>
            <a:spLocks xmlns:a="http://schemas.openxmlformats.org/drawingml/2006/main" noGrp="1"/>
          </p:cNvSpPr>
          <p:nvPr/>
        </p:nvSpPr>
        <p:spPr>
          <a:xfrm xmlns:a="http://schemas.openxmlformats.org/drawingml/2006/main">
            <a:off x="1276350" y="538162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62033"/>
                </a:solidFill>
              </a:defRPr>
            </a:pPr>
            <a:r>
              <a:rPr sz="1800" b="1">
                <a:solidFill>
                  <a:srgbClr val="162033"/>
                </a:solidFill>
              </a:rPr>
              <a:t>When an account has too many disconnected providers, the RM should hear opportunity and risk.</a:t>
            </a:r>
          </a:p>
        </p:txBody>
      </p:sp>
      <p:sp>
        <p:nvSpPr>
          <p:cNvPr id="13" name="">
            <a:extLst xmlns:a="http://schemas.openxmlformats.org/drawingml/2006/main">
              <a:ext uri="{FF2B5EF4-FFF2-40B4-BE49-F238E27FC236}">
                <a16:creationId xmlns:a16="http://schemas.microsoft.com/office/drawing/2014/main" id="{2E5C8F03-5EA2-4188-873E-04FB495C9948}"/>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B97D92-7171-4F48-AE07-1FA90A11AD43}"/>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5" name="">
            <a:extLst xmlns:a="http://schemas.openxmlformats.org/drawingml/2006/main">
              <a:ext uri="{FF2B5EF4-FFF2-40B4-BE49-F238E27FC236}">
                <a16:creationId xmlns:a16="http://schemas.microsoft.com/office/drawing/2014/main" id="{52D3CF65-97A0-4748-9387-378E92188691}"/>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09</a:t>
            </a:r>
          </a:p>
        </p:txBody>
      </p:sp>
    </p:spTree>
    <p:extLst>
      <p:ext uri="{BB962C8B-B14F-4D97-AF65-F5344CB8AC3E}">
        <p14:creationId xmlns:p14="http://schemas.microsoft.com/office/powerpoint/2010/main" val="15864818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DEBDBECB-B6F0-489C-BDF6-86F6171902BE}"/>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D208B553-E124-48BE-93B6-CA38401AAED5}"/>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Fragmentation is the pain RMs should learn to spot</a:t>
            </a:r>
          </a:p>
        </p:txBody>
      </p:sp>
      <p:sp>
        <p:nvSpPr>
          <p:cNvPr id="3" name="">
            <a:extLst xmlns:a="http://schemas.openxmlformats.org/drawingml/2006/main">
              <a:ext uri="{FF2B5EF4-FFF2-40B4-BE49-F238E27FC236}">
                <a16:creationId xmlns:a16="http://schemas.microsoft.com/office/drawing/2014/main" id="{39E72F03-80B8-4B51-B55A-7D6C5DCCEB8D}"/>
              </a:ext>
            </a:extLst>
          </p:cNvPr>
          <p:cNvSpPr>
            <a:spLocks xmlns:a="http://schemas.openxmlformats.org/drawingml/2006/main" noGrp="1"/>
          </p:cNvSpPr>
          <p:nvPr/>
        </p:nvSpPr>
        <p:spPr>
          <a:xfrm xmlns:a="http://schemas.openxmlformats.org/drawingml/2006/main">
            <a:off x="952500" y="195262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62033"/>
                </a:solidFill>
              </a:defRPr>
            </a:pPr>
            <a:r>
              <a:rPr sz="1950" b="1">
                <a:solidFill>
                  <a:srgbClr val="162033"/>
                </a:solidFill>
              </a:rPr>
              <a:t>Common symptoms</a:t>
            </a:r>
          </a:p>
        </p:txBody>
      </p:sp>
      <p:sp>
        <p:nvSpPr>
          <p:cNvPr id="4" name="">
            <a:extLst xmlns:a="http://schemas.openxmlformats.org/drawingml/2006/main">
              <a:ext uri="{FF2B5EF4-FFF2-40B4-BE49-F238E27FC236}">
                <a16:creationId xmlns:a16="http://schemas.microsoft.com/office/drawing/2014/main" id="{22D10513-DB88-4747-91A9-071DB3071350}"/>
              </a:ext>
            </a:extLst>
          </p:cNvPr>
          <p:cNvSpPr>
            <a:spLocks xmlns:a="http://schemas.openxmlformats.org/drawingml/2006/main" noGrp="1"/>
          </p:cNvSpPr>
          <p:nvPr/>
        </p:nvSpPr>
        <p:spPr>
          <a:xfrm xmlns:a="http://schemas.openxmlformats.org/drawingml/2006/main">
            <a:off x="952500" y="2428875"/>
            <a:ext cx="48577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42526E"/>
                </a:solidFill>
              </a:defRPr>
            </a:pPr>
            <a:r>
              <a:rPr sz="1575" b="0">
                <a:solidFill>
                  <a:srgbClr val="42526E"/>
                </a:solidFill>
              </a:rPr>
              <a:t>- Different POS by region or franchisee</a:t>
            </a:r>
          </a:p>
          <a:p xmlns:a="http://schemas.openxmlformats.org/drawingml/2006/main">
            <a:pPr algn="l">
              <a:defRPr sz="1575" b="0">
                <a:solidFill>
                  <a:srgbClr val="42526E"/>
                </a:solidFill>
              </a:defRPr>
            </a:pPr>
            <a:r>
              <a:rPr sz="1575" b="0">
                <a:solidFill>
                  <a:srgbClr val="42526E"/>
                </a:solidFill>
              </a:rPr>
              <a:t>- Online and in-store payments split</a:t>
            </a:r>
          </a:p>
          <a:p xmlns:a="http://schemas.openxmlformats.org/drawingml/2006/main">
            <a:pPr algn="l">
              <a:defRPr sz="1575" b="0">
                <a:solidFill>
                  <a:srgbClr val="42526E"/>
                </a:solidFill>
              </a:defRPr>
            </a:pPr>
            <a:r>
              <a:rPr sz="1575" b="0">
                <a:solidFill>
                  <a:srgbClr val="42526E"/>
                </a:solidFill>
              </a:rPr>
              <a:t>- Kitchen receives orders from too many sources</a:t>
            </a:r>
          </a:p>
          <a:p xmlns:a="http://schemas.openxmlformats.org/drawingml/2006/main">
            <a:pPr algn="l">
              <a:defRPr sz="1575" b="0">
                <a:solidFill>
                  <a:srgbClr val="42526E"/>
                </a:solidFill>
              </a:defRPr>
            </a:pPr>
            <a:r>
              <a:rPr sz="1575" b="0">
                <a:solidFill>
                  <a:srgbClr val="42526E"/>
                </a:solidFill>
              </a:rPr>
              <a:t>- Reporting does not tie out</a:t>
            </a:r>
          </a:p>
          <a:p xmlns:a="http://schemas.openxmlformats.org/drawingml/2006/main">
            <a:pPr algn="l">
              <a:defRPr sz="1575" b="0">
                <a:solidFill>
                  <a:srgbClr val="42526E"/>
                </a:solidFill>
              </a:defRPr>
            </a:pPr>
            <a:r>
              <a:rPr sz="1575" b="0">
                <a:solidFill>
                  <a:srgbClr val="42526E"/>
                </a:solidFill>
              </a:rPr>
              <a:t>- Multiple vendors point at each other</a:t>
            </a:r>
          </a:p>
          <a:p xmlns:a="http://schemas.openxmlformats.org/drawingml/2006/main">
            <a:pPr algn="l">
              <a:defRPr sz="1575" b="0">
                <a:solidFill>
                  <a:srgbClr val="42526E"/>
                </a:solidFill>
              </a:defRPr>
            </a:pPr>
            <a:r>
              <a:rPr sz="1575" b="0">
                <a:solidFill>
                  <a:srgbClr val="42526E"/>
                </a:solidFill>
              </a:rPr>
              <a:t>- Rollouts take too long</a:t>
            </a:r>
          </a:p>
        </p:txBody>
      </p:sp>
      <p:sp>
        <p:nvSpPr>
          <p:cNvPr id="5" name="">
            <a:extLst xmlns:a="http://schemas.openxmlformats.org/drawingml/2006/main">
              <a:ext uri="{FF2B5EF4-FFF2-40B4-BE49-F238E27FC236}">
                <a16:creationId xmlns:a16="http://schemas.microsoft.com/office/drawing/2014/main" id="{DD417873-9473-4A49-B59D-DD135A8C0C0C}"/>
              </a:ext>
            </a:extLst>
          </p:cNvPr>
          <p:cNvSpPr>
            <a:spLocks xmlns:a="http://schemas.openxmlformats.org/drawingml/2006/main" noGrp="1"/>
          </p:cNvSpPr>
          <p:nvPr/>
        </p:nvSpPr>
        <p:spPr>
          <a:xfrm xmlns:a="http://schemas.openxmlformats.org/drawingml/2006/main">
            <a:off x="6858000" y="195262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62033"/>
                </a:solidFill>
              </a:defRPr>
            </a:pPr>
            <a:r>
              <a:rPr sz="1950" b="1">
                <a:solidFill>
                  <a:srgbClr val="162033"/>
                </a:solidFill>
              </a:rPr>
              <a:t>What it creates</a:t>
            </a:r>
          </a:p>
        </p:txBody>
      </p:sp>
      <p:sp>
        <p:nvSpPr>
          <p:cNvPr id="6" name="">
            <a:extLst xmlns:a="http://schemas.openxmlformats.org/drawingml/2006/main">
              <a:ext uri="{FF2B5EF4-FFF2-40B4-BE49-F238E27FC236}">
                <a16:creationId xmlns:a16="http://schemas.microsoft.com/office/drawing/2014/main" id="{E1C72A3A-D0D5-4397-BC35-8BB3E752791B}"/>
              </a:ext>
            </a:extLst>
          </p:cNvPr>
          <p:cNvSpPr>
            <a:spLocks xmlns:a="http://schemas.openxmlformats.org/drawingml/2006/main" noGrp="1"/>
          </p:cNvSpPr>
          <p:nvPr/>
        </p:nvSpPr>
        <p:spPr>
          <a:xfrm xmlns:a="http://schemas.openxmlformats.org/drawingml/2006/main">
            <a:off x="6858000" y="2428875"/>
            <a:ext cx="44767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42526E"/>
                </a:solidFill>
              </a:defRPr>
            </a:pPr>
            <a:r>
              <a:rPr sz="1575" b="0">
                <a:solidFill>
                  <a:srgbClr val="42526E"/>
                </a:solidFill>
              </a:rPr>
              <a:t>- Support escalation</a:t>
            </a:r>
          </a:p>
          <a:p xmlns:a="http://schemas.openxmlformats.org/drawingml/2006/main">
            <a:pPr algn="l">
              <a:defRPr sz="1575" b="0">
                <a:solidFill>
                  <a:srgbClr val="42526E"/>
                </a:solidFill>
              </a:defRPr>
            </a:pPr>
            <a:r>
              <a:rPr sz="1575" b="0">
                <a:solidFill>
                  <a:srgbClr val="42526E"/>
                </a:solidFill>
              </a:rPr>
              <a:t>- Manual reconciliation</a:t>
            </a:r>
          </a:p>
          <a:p xmlns:a="http://schemas.openxmlformats.org/drawingml/2006/main">
            <a:pPr algn="l">
              <a:defRPr sz="1575" b="0">
                <a:solidFill>
                  <a:srgbClr val="42526E"/>
                </a:solidFill>
              </a:defRPr>
            </a:pPr>
            <a:r>
              <a:rPr sz="1575" b="0">
                <a:solidFill>
                  <a:srgbClr val="42526E"/>
                </a:solidFill>
              </a:rPr>
              <a:t>- Franchisee frustration</a:t>
            </a:r>
          </a:p>
          <a:p xmlns:a="http://schemas.openxmlformats.org/drawingml/2006/main">
            <a:pPr algn="l">
              <a:defRPr sz="1575" b="0">
                <a:solidFill>
                  <a:srgbClr val="42526E"/>
                </a:solidFill>
              </a:defRPr>
            </a:pPr>
            <a:r>
              <a:rPr sz="1575" b="0">
                <a:solidFill>
                  <a:srgbClr val="42526E"/>
                </a:solidFill>
              </a:rPr>
              <a:t>- Slower innovation</a:t>
            </a:r>
          </a:p>
          <a:p xmlns:a="http://schemas.openxmlformats.org/drawingml/2006/main">
            <a:pPr algn="l">
              <a:defRPr sz="1575" b="0">
                <a:solidFill>
                  <a:srgbClr val="42526E"/>
                </a:solidFill>
              </a:defRPr>
            </a:pPr>
            <a:r>
              <a:rPr sz="1575" b="0">
                <a:solidFill>
                  <a:srgbClr val="42526E"/>
                </a:solidFill>
              </a:rPr>
              <a:t>- Risk during peak periods</a:t>
            </a:r>
          </a:p>
          <a:p xmlns:a="http://schemas.openxmlformats.org/drawingml/2006/main">
            <a:pPr algn="l">
              <a:defRPr sz="1575" b="0">
                <a:solidFill>
                  <a:srgbClr val="42526E"/>
                </a:solidFill>
              </a:defRPr>
            </a:pPr>
            <a:r>
              <a:rPr sz="1575" b="0">
                <a:solidFill>
                  <a:srgbClr val="42526E"/>
                </a:solidFill>
              </a:rPr>
              <a:t>- Harder platform decisions</a:t>
            </a:r>
          </a:p>
        </p:txBody>
      </p:sp>
      <p:sp>
        <p:nvSpPr>
          <p:cNvPr id="7" name="">
            <a:extLst xmlns:a="http://schemas.openxmlformats.org/drawingml/2006/main">
              <a:ext uri="{FF2B5EF4-FFF2-40B4-BE49-F238E27FC236}">
                <a16:creationId xmlns:a16="http://schemas.microsoft.com/office/drawing/2014/main" id="{C4FE5D06-F6F4-46FE-B658-940E7C6CA40D}"/>
              </a:ext>
            </a:extLst>
          </p:cNvPr>
          <p:cNvSpPr>
            <a:spLocks xmlns:a="http://schemas.openxmlformats.org/drawingml/2006/main" noGrp="1"/>
          </p:cNvSpPr>
          <p:nvPr/>
        </p:nvSpPr>
        <p:spPr>
          <a:xfrm xmlns:a="http://schemas.openxmlformats.org/drawingml/2006/main">
            <a:off x="1638300" y="5286375"/>
            <a:ext cx="8915400" cy="552450"/>
          </a:xfrm>
          <a:prstGeom xmlns:a="http://schemas.openxmlformats.org/drawingml/2006/main" prst="roundRect">
            <a:avLst>
              <a:gd name="adj" fmla="val 13793"/>
            </a:avLst>
          </a:prstGeom>
          <a:solidFill xmlns:a="http://schemas.openxmlformats.org/drawingml/2006/main">
            <a:srgbClr val="EAF2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62033"/>
                </a:solidFill>
              </a:defRPr>
            </a:pPr>
            <a:r>
              <a:rPr sz="1650" b="1">
                <a:solidFill>
                  <a:srgbClr val="162033"/>
                </a:solidFill>
              </a:rPr>
              <a:t>Discovery moves from "Who processes you?" to "Where does the transaction path break?"</a:t>
            </a:r>
          </a:p>
        </p:txBody>
      </p:sp>
      <p:sp>
        <p:nvSpPr>
          <p:cNvPr id="8" name="">
            <a:extLst xmlns:a="http://schemas.openxmlformats.org/drawingml/2006/main">
              <a:ext uri="{FF2B5EF4-FFF2-40B4-BE49-F238E27FC236}">
                <a16:creationId xmlns:a16="http://schemas.microsoft.com/office/drawing/2014/main" id="{41806365-9430-47C4-98B5-B4735E543130}"/>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0AFBB35-32E6-47BD-8694-DAD8B176E187}"/>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0" name="">
            <a:extLst xmlns:a="http://schemas.openxmlformats.org/drawingml/2006/main">
              <a:ext uri="{FF2B5EF4-FFF2-40B4-BE49-F238E27FC236}">
                <a16:creationId xmlns:a16="http://schemas.microsoft.com/office/drawing/2014/main" id="{83B27085-5119-455C-8C3D-64033B9D940C}"/>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10</a:t>
            </a:r>
          </a:p>
        </p:txBody>
      </p:sp>
    </p:spTree>
    <p:extLst>
      <p:ext uri="{BB962C8B-B14F-4D97-AF65-F5344CB8AC3E}">
        <p14:creationId xmlns:p14="http://schemas.microsoft.com/office/powerpoint/2010/main" val="14917238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5C3BD46E-5D5C-4176-9F06-02DC9CBE8FFE}"/>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17A506CC-1C1D-4C2B-9C52-A9F7D9A1A8E2}"/>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Competitors sit in categories, not just logo lists</a:t>
            </a:r>
          </a:p>
        </p:txBody>
      </p:sp>
      <p:sp>
        <p:nvSpPr>
          <p:cNvPr id="3" name="">
            <a:extLst xmlns:a="http://schemas.openxmlformats.org/drawingml/2006/main">
              <a:ext uri="{FF2B5EF4-FFF2-40B4-BE49-F238E27FC236}">
                <a16:creationId xmlns:a16="http://schemas.microsoft.com/office/drawing/2014/main" id="{2ADB8C5F-CE83-404F-9D5D-4A758A713621}"/>
              </a:ext>
            </a:extLst>
          </p:cNvPr>
          <p:cNvSpPr>
            <a:spLocks xmlns:a="http://schemas.openxmlformats.org/drawingml/2006/main" noGrp="1"/>
          </p:cNvSpPr>
          <p:nvPr/>
        </p:nvSpPr>
        <p:spPr>
          <a:xfrm xmlns:a="http://schemas.openxmlformats.org/drawingml/2006/main">
            <a:off x="781050" y="1905000"/>
            <a:ext cx="57150" cy="314325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EF2BEE-7FD0-42F7-BBB9-F95BFA2E0EBC}"/>
              </a:ext>
            </a:extLst>
          </p:cNvPr>
          <p:cNvSpPr>
            <a:spLocks xmlns:a="http://schemas.openxmlformats.org/drawingml/2006/main" noGrp="1"/>
          </p:cNvSpPr>
          <p:nvPr/>
        </p:nvSpPr>
        <p:spPr>
          <a:xfrm xmlns:a="http://schemas.openxmlformats.org/drawingml/2006/main">
            <a:off x="971550" y="1905000"/>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Enterprise POS / platforms</a:t>
            </a:r>
          </a:p>
        </p:txBody>
      </p:sp>
      <p:sp>
        <p:nvSpPr>
          <p:cNvPr id="5" name="">
            <a:extLst xmlns:a="http://schemas.openxmlformats.org/drawingml/2006/main">
              <a:ext uri="{FF2B5EF4-FFF2-40B4-BE49-F238E27FC236}">
                <a16:creationId xmlns:a16="http://schemas.microsoft.com/office/drawing/2014/main" id="{38C1D30B-4767-4DB8-AE7A-1B54872FA426}"/>
              </a:ext>
            </a:extLst>
          </p:cNvPr>
          <p:cNvSpPr>
            <a:spLocks xmlns:a="http://schemas.openxmlformats.org/drawingml/2006/main" noGrp="1"/>
          </p:cNvSpPr>
          <p:nvPr/>
        </p:nvSpPr>
        <p:spPr>
          <a:xfrm xmlns:a="http://schemas.openxmlformats.org/drawingml/2006/main">
            <a:off x="971550" y="2362200"/>
            <a:ext cx="3095625"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Oracle Simphony / MICROS</a:t>
            </a:r>
          </a:p>
          <a:p xmlns:a="http://schemas.openxmlformats.org/drawingml/2006/main">
            <a:pPr algn="l">
              <a:defRPr sz="1350" b="0">
                <a:solidFill>
                  <a:srgbClr val="42526E"/>
                </a:solidFill>
              </a:defRPr>
            </a:pPr>
            <a:r>
              <a:rPr sz="1350" b="0">
                <a:solidFill>
                  <a:srgbClr val="42526E"/>
                </a:solidFill>
              </a:rPr>
              <a:t>- NCR Aloha / NCR Voyix</a:t>
            </a:r>
          </a:p>
          <a:p xmlns:a="http://schemas.openxmlformats.org/drawingml/2006/main">
            <a:pPr algn="l">
              <a:defRPr sz="1350" b="0">
                <a:solidFill>
                  <a:srgbClr val="42526E"/>
                </a:solidFill>
              </a:defRPr>
            </a:pPr>
            <a:r>
              <a:rPr sz="1350" b="0">
                <a:solidFill>
                  <a:srgbClr val="42526E"/>
                </a:solidFill>
              </a:rPr>
              <a:t>- PAR Brink</a:t>
            </a:r>
          </a:p>
          <a:p xmlns:a="http://schemas.openxmlformats.org/drawingml/2006/main">
            <a:pPr algn="l">
              <a:defRPr sz="1350" b="0">
                <a:solidFill>
                  <a:srgbClr val="42526E"/>
                </a:solidFill>
              </a:defRPr>
            </a:pPr>
            <a:r>
              <a:rPr sz="1350" b="0">
                <a:solidFill>
                  <a:srgbClr val="42526E"/>
                </a:solidFill>
              </a:rPr>
              <a:t>- Qu</a:t>
            </a:r>
          </a:p>
          <a:p xmlns:a="http://schemas.openxmlformats.org/drawingml/2006/main">
            <a:pPr algn="l">
              <a:defRPr sz="1350" b="0">
                <a:solidFill>
                  <a:srgbClr val="42526E"/>
                </a:solidFill>
              </a:defRPr>
            </a:pPr>
            <a:r>
              <a:rPr sz="1350" b="0">
                <a:solidFill>
                  <a:srgbClr val="42526E"/>
                </a:solidFill>
              </a:rPr>
              <a:t>- Toast</a:t>
            </a:r>
          </a:p>
          <a:p xmlns:a="http://schemas.openxmlformats.org/drawingml/2006/main">
            <a:pPr algn="l">
              <a:defRPr sz="1350" b="0">
                <a:solidFill>
                  <a:srgbClr val="42526E"/>
                </a:solidFill>
              </a:defRPr>
            </a:pPr>
            <a:r>
              <a:rPr sz="1350" b="0">
                <a:solidFill>
                  <a:srgbClr val="42526E"/>
                </a:solidFill>
              </a:rPr>
              <a:t>- Genius</a:t>
            </a:r>
          </a:p>
        </p:txBody>
      </p:sp>
      <p:sp>
        <p:nvSpPr>
          <p:cNvPr id="6" name="">
            <a:extLst xmlns:a="http://schemas.openxmlformats.org/drawingml/2006/main">
              <a:ext uri="{FF2B5EF4-FFF2-40B4-BE49-F238E27FC236}">
                <a16:creationId xmlns:a16="http://schemas.microsoft.com/office/drawing/2014/main" id="{9A145F06-41A5-4A25-921A-C0D63F479166}"/>
              </a:ext>
            </a:extLst>
          </p:cNvPr>
          <p:cNvSpPr>
            <a:spLocks xmlns:a="http://schemas.openxmlformats.org/drawingml/2006/main" noGrp="1"/>
          </p:cNvSpPr>
          <p:nvPr/>
        </p:nvSpPr>
        <p:spPr>
          <a:xfrm xmlns:a="http://schemas.openxmlformats.org/drawingml/2006/main">
            <a:off x="4457700" y="1905000"/>
            <a:ext cx="57150" cy="3143250"/>
          </a:xfrm>
          <a:prstGeom xmlns:a="http://schemas.openxmlformats.org/drawingml/2006/main" prst="rect">
            <a:avLst/>
          </a:prstGeom>
          <a:solidFill xmlns:a="http://schemas.openxmlformats.org/drawingml/2006/main">
            <a:srgbClr val="00A3A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A2E4C9-2288-4E56-B08A-494E3223FF87}"/>
              </a:ext>
            </a:extLst>
          </p:cNvPr>
          <p:cNvSpPr>
            <a:spLocks xmlns:a="http://schemas.openxmlformats.org/drawingml/2006/main" noGrp="1"/>
          </p:cNvSpPr>
          <p:nvPr/>
        </p:nvSpPr>
        <p:spPr>
          <a:xfrm xmlns:a="http://schemas.openxmlformats.org/drawingml/2006/main">
            <a:off x="4648200" y="1905000"/>
            <a:ext cx="319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Payments / gateway</a:t>
            </a:r>
          </a:p>
        </p:txBody>
      </p:sp>
      <p:sp>
        <p:nvSpPr>
          <p:cNvPr id="8" name="">
            <a:extLst xmlns:a="http://schemas.openxmlformats.org/drawingml/2006/main">
              <a:ext uri="{FF2B5EF4-FFF2-40B4-BE49-F238E27FC236}">
                <a16:creationId xmlns:a16="http://schemas.microsoft.com/office/drawing/2014/main" id="{7F0D3A53-D217-467E-8068-80F885609D43}"/>
              </a:ext>
            </a:extLst>
          </p:cNvPr>
          <p:cNvSpPr>
            <a:spLocks xmlns:a="http://schemas.openxmlformats.org/drawingml/2006/main" noGrp="1"/>
          </p:cNvSpPr>
          <p:nvPr/>
        </p:nvSpPr>
        <p:spPr>
          <a:xfrm xmlns:a="http://schemas.openxmlformats.org/drawingml/2006/main">
            <a:off x="4648200" y="2362200"/>
            <a:ext cx="3190875"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Worldpay</a:t>
            </a:r>
          </a:p>
          <a:p xmlns:a="http://schemas.openxmlformats.org/drawingml/2006/main">
            <a:pPr algn="l">
              <a:defRPr sz="1350" b="0">
                <a:solidFill>
                  <a:srgbClr val="42526E"/>
                </a:solidFill>
              </a:defRPr>
            </a:pPr>
            <a:r>
              <a:rPr sz="1350" b="0">
                <a:solidFill>
                  <a:srgbClr val="42526E"/>
                </a:solidFill>
              </a:rPr>
              <a:t>- Fiserv</a:t>
            </a:r>
          </a:p>
          <a:p xmlns:a="http://schemas.openxmlformats.org/drawingml/2006/main">
            <a:pPr algn="l">
              <a:defRPr sz="1350" b="0">
                <a:solidFill>
                  <a:srgbClr val="42526E"/>
                </a:solidFill>
              </a:defRPr>
            </a:pPr>
            <a:r>
              <a:rPr sz="1350" b="0">
                <a:solidFill>
                  <a:srgbClr val="42526E"/>
                </a:solidFill>
              </a:rPr>
              <a:t>- FreedomPay</a:t>
            </a:r>
          </a:p>
          <a:p xmlns:a="http://schemas.openxmlformats.org/drawingml/2006/main">
            <a:pPr algn="l">
              <a:defRPr sz="1350" b="0">
                <a:solidFill>
                  <a:srgbClr val="42526E"/>
                </a:solidFill>
              </a:defRPr>
            </a:pPr>
            <a:r>
              <a:rPr sz="1350" b="0">
                <a:solidFill>
                  <a:srgbClr val="42526E"/>
                </a:solidFill>
              </a:rPr>
              <a:t>- Adyen / Stripe / Shift4</a:t>
            </a:r>
          </a:p>
          <a:p xmlns:a="http://schemas.openxmlformats.org/drawingml/2006/main">
            <a:pPr algn="l">
              <a:defRPr sz="1350" b="0">
                <a:solidFill>
                  <a:srgbClr val="42526E"/>
                </a:solidFill>
              </a:defRPr>
            </a:pPr>
            <a:r>
              <a:rPr sz="1350" b="0">
                <a:solidFill>
                  <a:srgbClr val="42526E"/>
                </a:solidFill>
              </a:rPr>
              <a:t>- Aurus / Cybersource / ACI</a:t>
            </a:r>
          </a:p>
          <a:p xmlns:a="http://schemas.openxmlformats.org/drawingml/2006/main">
            <a:pPr algn="l">
              <a:defRPr sz="1350" b="0">
                <a:solidFill>
                  <a:srgbClr val="42526E"/>
                </a:solidFill>
              </a:defRPr>
            </a:pPr>
            <a:r>
              <a:rPr sz="1350" b="0">
                <a:solidFill>
                  <a:srgbClr val="42526E"/>
                </a:solidFill>
              </a:rPr>
              <a:t>- NCR Connected Payments / OPI</a:t>
            </a:r>
          </a:p>
        </p:txBody>
      </p:sp>
      <p:sp>
        <p:nvSpPr>
          <p:cNvPr id="9" name="">
            <a:extLst xmlns:a="http://schemas.openxmlformats.org/drawingml/2006/main">
              <a:ext uri="{FF2B5EF4-FFF2-40B4-BE49-F238E27FC236}">
                <a16:creationId xmlns:a16="http://schemas.microsoft.com/office/drawing/2014/main" id="{25B88177-B5F6-4E94-B313-2D2078354546}"/>
              </a:ext>
            </a:extLst>
          </p:cNvPr>
          <p:cNvSpPr>
            <a:spLocks xmlns:a="http://schemas.openxmlformats.org/drawingml/2006/main" noGrp="1"/>
          </p:cNvSpPr>
          <p:nvPr/>
        </p:nvSpPr>
        <p:spPr>
          <a:xfrm xmlns:a="http://schemas.openxmlformats.org/drawingml/2006/main">
            <a:off x="8229600" y="1905000"/>
            <a:ext cx="57150" cy="3143250"/>
          </a:xfrm>
          <a:prstGeom xmlns:a="http://schemas.openxmlformats.org/drawingml/2006/main" prst="rect">
            <a:avLst/>
          </a:prstGeom>
          <a:solidFill xmlns:a="http://schemas.openxmlformats.org/drawingml/2006/main">
            <a:srgbClr val="D982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B21EDC-9735-407E-905A-AAEEF780E21C}"/>
              </a:ext>
            </a:extLst>
          </p:cNvPr>
          <p:cNvSpPr>
            <a:spLocks xmlns:a="http://schemas.openxmlformats.org/drawingml/2006/main" noGrp="1"/>
          </p:cNvSpPr>
          <p:nvPr/>
        </p:nvSpPr>
        <p:spPr>
          <a:xfrm xmlns:a="http://schemas.openxmlformats.org/drawingml/2006/main">
            <a:off x="8420100" y="1905000"/>
            <a:ext cx="309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Adjacent stack</a:t>
            </a:r>
          </a:p>
        </p:txBody>
      </p:sp>
      <p:sp>
        <p:nvSpPr>
          <p:cNvPr id="11" name="">
            <a:extLst xmlns:a="http://schemas.openxmlformats.org/drawingml/2006/main">
              <a:ext uri="{FF2B5EF4-FFF2-40B4-BE49-F238E27FC236}">
                <a16:creationId xmlns:a16="http://schemas.microsoft.com/office/drawing/2014/main" id="{792E7073-AF04-4A1E-BA89-6B2D04FFEE82}"/>
              </a:ext>
            </a:extLst>
          </p:cNvPr>
          <p:cNvSpPr>
            <a:spLocks xmlns:a="http://schemas.openxmlformats.org/drawingml/2006/main" noGrp="1"/>
          </p:cNvSpPr>
          <p:nvPr/>
        </p:nvSpPr>
        <p:spPr>
          <a:xfrm xmlns:a="http://schemas.openxmlformats.org/drawingml/2006/main">
            <a:off x="8420100" y="2362200"/>
            <a:ext cx="3095625"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Olo / Lunchbox / Tillster</a:t>
            </a:r>
          </a:p>
          <a:p xmlns:a="http://schemas.openxmlformats.org/drawingml/2006/main">
            <a:pPr algn="l">
              <a:defRPr sz="1350" b="0">
                <a:solidFill>
                  <a:srgbClr val="42526E"/>
                </a:solidFill>
              </a:defRPr>
            </a:pPr>
            <a:r>
              <a:rPr sz="1350" b="0">
                <a:solidFill>
                  <a:srgbClr val="42526E"/>
                </a:solidFill>
              </a:rPr>
              <a:t>- Punchh / Paytronix</a:t>
            </a:r>
          </a:p>
          <a:p xmlns:a="http://schemas.openxmlformats.org/drawingml/2006/main">
            <a:pPr algn="l">
              <a:defRPr sz="1350" b="0">
                <a:solidFill>
                  <a:srgbClr val="42526E"/>
                </a:solidFill>
              </a:defRPr>
            </a:pPr>
            <a:r>
              <a:rPr sz="1350" b="0">
                <a:solidFill>
                  <a:srgbClr val="42526E"/>
                </a:solidFill>
              </a:rPr>
              <a:t>- Bite / QikServe / Mashgin</a:t>
            </a:r>
          </a:p>
          <a:p xmlns:a="http://schemas.openxmlformats.org/drawingml/2006/main">
            <a:pPr algn="l">
              <a:defRPr sz="1350" b="0">
                <a:solidFill>
                  <a:srgbClr val="42526E"/>
                </a:solidFill>
              </a:defRPr>
            </a:pPr>
            <a:r>
              <a:rPr sz="1350" b="0">
                <a:solidFill>
                  <a:srgbClr val="42526E"/>
                </a:solidFill>
              </a:rPr>
              <a:t>- QSR Automations</a:t>
            </a:r>
          </a:p>
          <a:p xmlns:a="http://schemas.openxmlformats.org/drawingml/2006/main">
            <a:pPr algn="l">
              <a:defRPr sz="1350" b="0">
                <a:solidFill>
                  <a:srgbClr val="42526E"/>
                </a:solidFill>
              </a:defRPr>
            </a:pPr>
            <a:r>
              <a:rPr sz="1350" b="0">
                <a:solidFill>
                  <a:srgbClr val="42526E"/>
                </a:solidFill>
              </a:rPr>
              <a:t>- Restaurant365 / Crunchtime</a:t>
            </a:r>
          </a:p>
          <a:p xmlns:a="http://schemas.openxmlformats.org/drawingml/2006/main">
            <a:pPr algn="l">
              <a:defRPr sz="1350" b="0">
                <a:solidFill>
                  <a:srgbClr val="42526E"/>
                </a:solidFill>
              </a:defRPr>
            </a:pPr>
            <a:r>
              <a:rPr sz="1350" b="0">
                <a:solidFill>
                  <a:srgbClr val="42526E"/>
                </a:solidFill>
              </a:rPr>
              <a:t>- HotSchedules / Fourth</a:t>
            </a:r>
          </a:p>
        </p:txBody>
      </p:sp>
      <p:sp>
        <p:nvSpPr>
          <p:cNvPr id="12" name="">
            <a:extLst xmlns:a="http://schemas.openxmlformats.org/drawingml/2006/main">
              <a:ext uri="{FF2B5EF4-FFF2-40B4-BE49-F238E27FC236}">
                <a16:creationId xmlns:a16="http://schemas.microsoft.com/office/drawing/2014/main" id="{AE1EA7E5-83F6-40CD-BCF8-5052B2A0E321}"/>
              </a:ext>
            </a:extLst>
          </p:cNvPr>
          <p:cNvSpPr>
            <a:spLocks xmlns:a="http://schemas.openxmlformats.org/drawingml/2006/main" noGrp="1"/>
          </p:cNvSpPr>
          <p:nvPr/>
        </p:nvSpPr>
        <p:spPr>
          <a:xfrm xmlns:a="http://schemas.openxmlformats.org/drawingml/2006/main">
            <a:off x="1333500" y="55245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62033"/>
                </a:solidFill>
              </a:defRPr>
            </a:pPr>
            <a:r>
              <a:rPr sz="1800" b="1">
                <a:solidFill>
                  <a:srgbClr val="162033"/>
                </a:solidFill>
              </a:rPr>
              <a:t>Use names to orient discovery. Do not turn the first conversation into a vendor debate.</a:t>
            </a:r>
          </a:p>
        </p:txBody>
      </p:sp>
      <p:sp>
        <p:nvSpPr>
          <p:cNvPr id="13" name="">
            <a:extLst xmlns:a="http://schemas.openxmlformats.org/drawingml/2006/main">
              <a:ext uri="{FF2B5EF4-FFF2-40B4-BE49-F238E27FC236}">
                <a16:creationId xmlns:a16="http://schemas.microsoft.com/office/drawing/2014/main" id="{6F6C72D9-B465-45A9-A180-E7B1A5031E77}"/>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6937A2-2902-4B7E-B5E7-F2FF2481EF9A}"/>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5" name="">
            <a:extLst xmlns:a="http://schemas.openxmlformats.org/drawingml/2006/main">
              <a:ext uri="{FF2B5EF4-FFF2-40B4-BE49-F238E27FC236}">
                <a16:creationId xmlns:a16="http://schemas.microsoft.com/office/drawing/2014/main" id="{81DDCBEF-4A5E-4FF3-AE04-E27C9C8AC7A7}"/>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11</a:t>
            </a:r>
          </a:p>
        </p:txBody>
      </p:sp>
    </p:spTree>
    <p:extLst>
      <p:ext uri="{BB962C8B-B14F-4D97-AF65-F5344CB8AC3E}">
        <p14:creationId xmlns:p14="http://schemas.microsoft.com/office/powerpoint/2010/main" val="2602539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kicker">
            <a:extLst xmlns:a="http://schemas.openxmlformats.org/drawingml/2006/main">
              <a:ext uri="{FF2B5EF4-FFF2-40B4-BE49-F238E27FC236}">
                <a16:creationId xmlns:a16="http://schemas.microsoft.com/office/drawing/2014/main" id="{595875EA-3C3B-4756-839E-69949342DBD6}"/>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C7699790-1668-4440-A0B1-F486D6A1E666}"/>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Corporate proof: platform value has to scale without noise</a:t>
            </a:r>
          </a:p>
        </p:txBody>
      </p:sp>
      <p:sp>
        <p:nvSpPr>
          <p:cNvPr id="3" name="">
            <a:extLst xmlns:a="http://schemas.openxmlformats.org/drawingml/2006/main">
              <a:ext uri="{FF2B5EF4-FFF2-40B4-BE49-F238E27FC236}">
                <a16:creationId xmlns:a16="http://schemas.microsoft.com/office/drawing/2014/main" id="{B4B7C727-0910-4ECE-9EAC-EDFFCF8CEB95}"/>
              </a:ext>
            </a:extLst>
          </p:cNvPr>
          <p:cNvSpPr>
            <a:spLocks xmlns:a="http://schemas.openxmlformats.org/drawingml/2006/main" noGrp="1"/>
          </p:cNvSpPr>
          <p:nvPr/>
        </p:nvSpPr>
        <p:spPr>
          <a:xfrm xmlns:a="http://schemas.openxmlformats.org/drawingml/2006/main">
            <a:off x="704850" y="2000250"/>
            <a:ext cx="57150" cy="2381250"/>
          </a:xfrm>
          <a:prstGeom xmlns:a="http://schemas.openxmlformats.org/drawingml/2006/main" prst="rect">
            <a:avLst/>
          </a:prstGeom>
          <a:solidFill xmlns:a="http://schemas.openxmlformats.org/drawingml/2006/main">
            <a:srgbClr val="155E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41ABDD-7FAB-42CC-9960-4282806A07AA}"/>
              </a:ext>
            </a:extLst>
          </p:cNvPr>
          <p:cNvSpPr>
            <a:spLocks xmlns:a="http://schemas.openxmlformats.org/drawingml/2006/main" noGrp="1"/>
          </p:cNvSpPr>
          <p:nvPr/>
        </p:nvSpPr>
        <p:spPr>
          <a:xfrm xmlns:a="http://schemas.openxmlformats.org/drawingml/2006/main">
            <a:off x="895350" y="2000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A&amp;W</a:t>
            </a:r>
          </a:p>
        </p:txBody>
      </p:sp>
      <p:sp>
        <p:nvSpPr>
          <p:cNvPr id="5" name="">
            <a:extLst xmlns:a="http://schemas.openxmlformats.org/drawingml/2006/main">
              <a:ext uri="{FF2B5EF4-FFF2-40B4-BE49-F238E27FC236}">
                <a16:creationId xmlns:a16="http://schemas.microsoft.com/office/drawing/2014/main" id="{39ACABEE-6B0B-4023-87B3-BA317A028676}"/>
              </a:ext>
            </a:extLst>
          </p:cNvPr>
          <p:cNvSpPr>
            <a:spLocks xmlns:a="http://schemas.openxmlformats.org/drawingml/2006/main" noGrp="1"/>
          </p:cNvSpPr>
          <p:nvPr/>
        </p:nvSpPr>
        <p:spPr>
          <a:xfrm xmlns:a="http://schemas.openxmlformats.org/drawingml/2006/main">
            <a:off x="895350" y="2457450"/>
            <a:ext cx="31432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- 1,000+ restaurant modernization</a:t>
            </a:r>
          </a:p>
          <a:p xmlns:a="http://schemas.openxmlformats.org/drawingml/2006/main">
            <a:pPr algn="l">
              <a:defRPr sz="1350" b="0">
                <a:solidFill>
                  <a:srgbClr val="42526E"/>
                </a:solidFill>
              </a:defRPr>
            </a:pPr>
            <a:r>
              <a:rPr sz="1350" b="0">
                <a:solidFill>
                  <a:srgbClr val="42526E"/>
                </a:solidFill>
              </a:rPr>
              <a:t>- Fragmented stack unified</a:t>
            </a:r>
          </a:p>
          <a:p xmlns:a="http://schemas.openxmlformats.org/drawingml/2006/main">
            <a:pPr algn="l">
              <a:defRPr sz="1350" b="0">
                <a:solidFill>
                  <a:srgbClr val="42526E"/>
                </a:solidFill>
              </a:defRPr>
            </a:pPr>
            <a:r>
              <a:rPr sz="1350" b="0">
                <a:solidFill>
                  <a:srgbClr val="42526E"/>
                </a:solidFill>
              </a:rPr>
              <a:t>- Speed of service and visibility improved</a:t>
            </a:r>
          </a:p>
        </p:txBody>
      </p:sp>
      <p:sp>
        <p:nvSpPr>
          <p:cNvPr id="6" name="">
            <a:extLst xmlns:a="http://schemas.openxmlformats.org/drawingml/2006/main">
              <a:ext uri="{FF2B5EF4-FFF2-40B4-BE49-F238E27FC236}">
                <a16:creationId xmlns:a16="http://schemas.microsoft.com/office/drawing/2014/main" id="{2D5AA0E5-4CA9-4531-8A61-72328D4F9A7F}"/>
              </a:ext>
            </a:extLst>
          </p:cNvPr>
          <p:cNvSpPr>
            <a:spLocks xmlns:a="http://schemas.openxmlformats.org/drawingml/2006/main" noGrp="1"/>
          </p:cNvSpPr>
          <p:nvPr/>
        </p:nvSpPr>
        <p:spPr>
          <a:xfrm xmlns:a="http://schemas.openxmlformats.org/drawingml/2006/main">
            <a:off x="4419600" y="2000250"/>
            <a:ext cx="57150" cy="2381250"/>
          </a:xfrm>
          <a:prstGeom xmlns:a="http://schemas.openxmlformats.org/drawingml/2006/main" prst="rect">
            <a:avLst/>
          </a:prstGeom>
          <a:solidFill xmlns:a="http://schemas.openxmlformats.org/drawingml/2006/main">
            <a:srgbClr val="5E4DB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621651-543B-4158-AE19-DB146C88EFED}"/>
              </a:ext>
            </a:extLst>
          </p:cNvPr>
          <p:cNvSpPr>
            <a:spLocks xmlns:a="http://schemas.openxmlformats.org/drawingml/2006/main" noGrp="1"/>
          </p:cNvSpPr>
          <p:nvPr/>
        </p:nvSpPr>
        <p:spPr>
          <a:xfrm xmlns:a="http://schemas.openxmlformats.org/drawingml/2006/main">
            <a:off x="4610100" y="2000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CosMc's</a:t>
            </a:r>
          </a:p>
        </p:txBody>
      </p:sp>
      <p:sp>
        <p:nvSpPr>
          <p:cNvPr id="8" name="">
            <a:extLst xmlns:a="http://schemas.openxmlformats.org/drawingml/2006/main">
              <a:ext uri="{FF2B5EF4-FFF2-40B4-BE49-F238E27FC236}">
                <a16:creationId xmlns:a16="http://schemas.microsoft.com/office/drawing/2014/main" id="{D0BA2588-A48F-436F-AE4D-311BA78E78B7}"/>
              </a:ext>
            </a:extLst>
          </p:cNvPr>
          <p:cNvSpPr>
            <a:spLocks xmlns:a="http://schemas.openxmlformats.org/drawingml/2006/main" noGrp="1"/>
          </p:cNvSpPr>
          <p:nvPr/>
        </p:nvSpPr>
        <p:spPr>
          <a:xfrm xmlns:a="http://schemas.openxmlformats.org/drawingml/2006/main">
            <a:off x="4610100" y="2457450"/>
            <a:ext cx="31432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Single supplier helped move faster</a:t>
            </a:r>
          </a:p>
          <a:p xmlns:a="http://schemas.openxmlformats.org/drawingml/2006/main">
            <a:pPr algn="l">
              <a:defRPr sz="1350" b="0">
                <a:solidFill>
                  <a:srgbClr val="42526E"/>
                </a:solidFill>
              </a:defRPr>
            </a:pPr>
            <a:r>
              <a:rPr sz="1350" b="0">
                <a:solidFill>
                  <a:srgbClr val="42526E"/>
                </a:solidFill>
              </a:rPr>
              <a:t>- Cloud POS, kiosks, DMBs, commerce platform</a:t>
            </a:r>
          </a:p>
          <a:p xmlns:a="http://schemas.openxmlformats.org/drawingml/2006/main">
            <a:pPr algn="l">
              <a:defRPr sz="1350" b="0">
                <a:solidFill>
                  <a:srgbClr val="42526E"/>
                </a:solidFill>
              </a:defRPr>
            </a:pPr>
            <a:r>
              <a:rPr sz="1350" b="0">
                <a:solidFill>
                  <a:srgbClr val="42526E"/>
                </a:solidFill>
              </a:rPr>
              <a:t>- Useful proof for new concepts</a:t>
            </a:r>
          </a:p>
        </p:txBody>
      </p:sp>
      <p:sp>
        <p:nvSpPr>
          <p:cNvPr id="9" name="">
            <a:extLst xmlns:a="http://schemas.openxmlformats.org/drawingml/2006/main">
              <a:ext uri="{FF2B5EF4-FFF2-40B4-BE49-F238E27FC236}">
                <a16:creationId xmlns:a16="http://schemas.microsoft.com/office/drawing/2014/main" id="{94F7DE6B-36F0-408B-B9F5-2FD1F2FD5C8A}"/>
              </a:ext>
            </a:extLst>
          </p:cNvPr>
          <p:cNvSpPr>
            <a:spLocks xmlns:a="http://schemas.openxmlformats.org/drawingml/2006/main" noGrp="1"/>
          </p:cNvSpPr>
          <p:nvPr/>
        </p:nvSpPr>
        <p:spPr>
          <a:xfrm xmlns:a="http://schemas.openxmlformats.org/drawingml/2006/main">
            <a:off x="8134350" y="2000250"/>
            <a:ext cx="57150" cy="2381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2B007E-5F5D-49DE-B6EA-AE7465C3F891}"/>
              </a:ext>
            </a:extLst>
          </p:cNvPr>
          <p:cNvSpPr>
            <a:spLocks xmlns:a="http://schemas.openxmlformats.org/drawingml/2006/main" noGrp="1"/>
          </p:cNvSpPr>
          <p:nvPr/>
        </p:nvSpPr>
        <p:spPr>
          <a:xfrm xmlns:a="http://schemas.openxmlformats.org/drawingml/2006/main">
            <a:off x="8324850" y="20002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62033"/>
                </a:solidFill>
              </a:defRPr>
            </a:pPr>
            <a:r>
              <a:rPr sz="1800" b="1">
                <a:solidFill>
                  <a:srgbClr val="162033"/>
                </a:solidFill>
              </a:rPr>
              <a:t>7Brew</a:t>
            </a:r>
          </a:p>
        </p:txBody>
      </p:sp>
      <p:sp>
        <p:nvSpPr>
          <p:cNvPr id="11" name="">
            <a:extLst xmlns:a="http://schemas.openxmlformats.org/drawingml/2006/main">
              <a:ext uri="{FF2B5EF4-FFF2-40B4-BE49-F238E27FC236}">
                <a16:creationId xmlns:a16="http://schemas.microsoft.com/office/drawing/2014/main" id="{03AB3027-72A6-4DDD-ABAE-A52DCAB13A5C}"/>
              </a:ext>
            </a:extLst>
          </p:cNvPr>
          <p:cNvSpPr>
            <a:spLocks xmlns:a="http://schemas.openxmlformats.org/drawingml/2006/main" noGrp="1"/>
          </p:cNvSpPr>
          <p:nvPr/>
        </p:nvSpPr>
        <p:spPr>
          <a:xfrm xmlns:a="http://schemas.openxmlformats.org/drawingml/2006/main">
            <a:off x="8324850" y="2457450"/>
            <a:ext cx="31432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2526E"/>
                </a:solidFill>
              </a:defRPr>
            </a:pPr>
            <a:r>
              <a:rPr sz="1350" b="0">
                <a:solidFill>
                  <a:srgbClr val="42526E"/>
                </a:solidFill>
              </a:rPr>
              <a:t>- 530+ locations deployed in 9 weeks</a:t>
            </a:r>
          </a:p>
          <a:p xmlns:a="http://schemas.openxmlformats.org/drawingml/2006/main">
            <a:pPr algn="l">
              <a:defRPr sz="1350" b="0">
                <a:solidFill>
                  <a:srgbClr val="42526E"/>
                </a:solidFill>
              </a:defRPr>
            </a:pPr>
            <a:r>
              <a:rPr sz="1350" b="0">
                <a:solidFill>
                  <a:srgbClr val="42526E"/>
                </a:solidFill>
              </a:rPr>
              <a:t>- Centralized control and consistent workflows</a:t>
            </a:r>
          </a:p>
          <a:p xmlns:a="http://schemas.openxmlformats.org/drawingml/2006/main">
            <a:pPr algn="l">
              <a:defRPr sz="1350" b="0">
                <a:solidFill>
                  <a:srgbClr val="42526E"/>
                </a:solidFill>
              </a:defRPr>
            </a:pPr>
            <a:r>
              <a:rPr sz="1350" b="0">
                <a:solidFill>
                  <a:srgbClr val="42526E"/>
                </a:solidFill>
              </a:rPr>
              <a:t>- Useful proof for rapid growth</a:t>
            </a:r>
          </a:p>
        </p:txBody>
      </p:sp>
      <p:sp>
        <p:nvSpPr>
          <p:cNvPr id="12" name="">
            <a:extLst xmlns:a="http://schemas.openxmlformats.org/drawingml/2006/main">
              <a:ext uri="{FF2B5EF4-FFF2-40B4-BE49-F238E27FC236}">
                <a16:creationId xmlns:a16="http://schemas.microsoft.com/office/drawing/2014/main" id="{4F4C4346-44ED-4FF1-8A37-76475130B6F7}"/>
              </a:ext>
            </a:extLst>
          </p:cNvPr>
          <p:cNvSpPr>
            <a:spLocks xmlns:a="http://schemas.openxmlformats.org/drawingml/2006/main" noGrp="1"/>
          </p:cNvSpPr>
          <p:nvPr/>
        </p:nvSpPr>
        <p:spPr>
          <a:xfrm xmlns:a="http://schemas.openxmlformats.org/drawingml/2006/main">
            <a:off x="1219200" y="5286375"/>
            <a:ext cx="9753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62033"/>
                </a:solidFill>
              </a:defRPr>
            </a:pPr>
            <a:r>
              <a:rPr sz="1800" b="1">
                <a:solidFill>
                  <a:srgbClr val="162033"/>
                </a:solidFill>
              </a:rPr>
              <a:t>RM takeaway: proof matters because corporate buyers need a tangible system win and low field disruption.</a:t>
            </a:r>
          </a:p>
        </p:txBody>
      </p:sp>
      <p:sp>
        <p:nvSpPr>
          <p:cNvPr id="13" name="">
            <a:extLst xmlns:a="http://schemas.openxmlformats.org/drawingml/2006/main">
              <a:ext uri="{FF2B5EF4-FFF2-40B4-BE49-F238E27FC236}">
                <a16:creationId xmlns:a16="http://schemas.microsoft.com/office/drawing/2014/main" id="{186B0273-EE6E-4AC6-ADFD-F059E1EF2DF5}"/>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F8D997-779A-4E39-8B8B-A80739F1C93F}"/>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5" name="">
            <a:extLst xmlns:a="http://schemas.openxmlformats.org/drawingml/2006/main">
              <a:ext uri="{FF2B5EF4-FFF2-40B4-BE49-F238E27FC236}">
                <a16:creationId xmlns:a16="http://schemas.microsoft.com/office/drawing/2014/main" id="{D50A51D9-1E0F-458E-8C1D-D62C58ACD946}"/>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12</a:t>
            </a:r>
          </a:p>
        </p:txBody>
      </p:sp>
    </p:spTree>
    <p:extLst>
      <p:ext uri="{BB962C8B-B14F-4D97-AF65-F5344CB8AC3E}">
        <p14:creationId xmlns:p14="http://schemas.microsoft.com/office/powerpoint/2010/main" val="15870674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E03075CB-E5A4-4DE5-B610-B7D73FF92D85}"/>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1E8AB397-D97A-4D7A-84DD-E7C77B651469}"/>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The RM job is to capture the wedge</a:t>
            </a:r>
          </a:p>
        </p:txBody>
      </p:sp>
      <p:sp>
        <p:nvSpPr>
          <p:cNvPr id="3" name="">
            <a:extLst xmlns:a="http://schemas.openxmlformats.org/drawingml/2006/main">
              <a:ext uri="{FF2B5EF4-FFF2-40B4-BE49-F238E27FC236}">
                <a16:creationId xmlns:a16="http://schemas.microsoft.com/office/drawing/2014/main" id="{54A1D1D0-9FDF-4EEE-BB51-6B8BB6B382EB}"/>
              </a:ext>
            </a:extLst>
          </p:cNvPr>
          <p:cNvSpPr>
            <a:spLocks xmlns:a="http://schemas.openxmlformats.org/drawingml/2006/main" noGrp="1"/>
          </p:cNvSpPr>
          <p:nvPr/>
        </p:nvSpPr>
        <p:spPr>
          <a:xfrm xmlns:a="http://schemas.openxmlformats.org/drawingml/2006/main">
            <a:off x="914400" y="186690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62033"/>
                </a:solidFill>
              </a:defRPr>
            </a:pPr>
            <a:r>
              <a:rPr sz="2100" b="1">
                <a:solidFill>
                  <a:srgbClr val="162033"/>
                </a:solidFill>
              </a:rPr>
              <a:t>Ask five questions before bringing Genius in:</a:t>
            </a:r>
          </a:p>
        </p:txBody>
      </p:sp>
      <p:sp>
        <p:nvSpPr>
          <p:cNvPr id="4" name="">
            <a:extLst xmlns:a="http://schemas.openxmlformats.org/drawingml/2006/main">
              <a:ext uri="{FF2B5EF4-FFF2-40B4-BE49-F238E27FC236}">
                <a16:creationId xmlns:a16="http://schemas.microsoft.com/office/drawing/2014/main" id="{02473B66-FB2B-49CD-8316-DF0A38AE570B}"/>
              </a:ext>
            </a:extLst>
          </p:cNvPr>
          <p:cNvSpPr>
            <a:spLocks xmlns:a="http://schemas.openxmlformats.org/drawingml/2006/main" noGrp="1"/>
          </p:cNvSpPr>
          <p:nvPr/>
        </p:nvSpPr>
        <p:spPr>
          <a:xfrm xmlns:a="http://schemas.openxmlformats.org/drawingml/2006/main">
            <a:off x="1066800" y="2571750"/>
            <a:ext cx="9810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42526E"/>
                </a:solidFill>
              </a:defRPr>
            </a:pPr>
            <a:r>
              <a:rPr sz="1725" b="0">
                <a:solidFill>
                  <a:srgbClr val="42526E"/>
                </a:solidFill>
              </a:rPr>
              <a:t>1. What POS and payment architecture do you run today?</a:t>
            </a:r>
          </a:p>
          <a:p xmlns:a="http://schemas.openxmlformats.org/drawingml/2006/main">
            <a:pPr algn="l">
              <a:defRPr sz="1725" b="0">
                <a:solidFill>
                  <a:srgbClr val="42526E"/>
                </a:solidFill>
              </a:defRPr>
            </a:pPr>
            <a:r>
              <a:rPr sz="1725" b="0">
                <a:solidFill>
                  <a:srgbClr val="42526E"/>
                </a:solidFill>
              </a:rPr>
              <a:t>2. Is that consistent across corporate, franchise, online, kiosk, and drive-thru?</a:t>
            </a:r>
          </a:p>
          <a:p xmlns:a="http://schemas.openxmlformats.org/drawingml/2006/main">
            <a:pPr algn="l">
              <a:defRPr sz="1725" b="0">
                <a:solidFill>
                  <a:srgbClr val="42526E"/>
                </a:solidFill>
              </a:defRPr>
            </a:pPr>
            <a:r>
              <a:rPr sz="1725" b="0">
                <a:solidFill>
                  <a:srgbClr val="42526E"/>
                </a:solidFill>
              </a:rPr>
              <a:t>3. What is changing: contract, migration, pilot, support issue, new format, or acquisition?</a:t>
            </a:r>
          </a:p>
          <a:p xmlns:a="http://schemas.openxmlformats.org/drawingml/2006/main">
            <a:pPr algn="l">
              <a:defRPr sz="1725" b="0">
                <a:solidFill>
                  <a:srgbClr val="42526E"/>
                </a:solidFill>
              </a:defRPr>
            </a:pPr>
            <a:r>
              <a:rPr sz="1725" b="0">
                <a:solidFill>
                  <a:srgbClr val="42526E"/>
                </a:solidFill>
              </a:rPr>
              <a:t>4. Who owns the decision: IT, operations, finance, procurement, or franchisees?</a:t>
            </a:r>
          </a:p>
          <a:p xmlns:a="http://schemas.openxmlformats.org/drawingml/2006/main">
            <a:pPr algn="l">
              <a:defRPr sz="1725" b="0">
                <a:solidFill>
                  <a:srgbClr val="42526E"/>
                </a:solidFill>
              </a:defRPr>
            </a:pPr>
            <a:r>
              <a:rPr sz="1725" b="0">
                <a:solidFill>
                  <a:srgbClr val="42526E"/>
                </a:solidFill>
              </a:rPr>
              <a:t>5. What breaks during peak volume or when connectivity fails?</a:t>
            </a:r>
          </a:p>
        </p:txBody>
      </p:sp>
      <p:sp>
        <p:nvSpPr>
          <p:cNvPr id="5" name="">
            <a:extLst xmlns:a="http://schemas.openxmlformats.org/drawingml/2006/main">
              <a:ext uri="{FF2B5EF4-FFF2-40B4-BE49-F238E27FC236}">
                <a16:creationId xmlns:a16="http://schemas.microsoft.com/office/drawing/2014/main" id="{AB7DB8EC-E849-40E3-B6EF-E5C9BDF6E584}"/>
              </a:ext>
            </a:extLst>
          </p:cNvPr>
          <p:cNvSpPr>
            <a:spLocks xmlns:a="http://schemas.openxmlformats.org/drawingml/2006/main" noGrp="1"/>
          </p:cNvSpPr>
          <p:nvPr/>
        </p:nvSpPr>
        <p:spPr>
          <a:xfrm xmlns:a="http://schemas.openxmlformats.org/drawingml/2006/main">
            <a:off x="1066800" y="5286375"/>
            <a:ext cx="9810750" cy="590550"/>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62033"/>
                </a:solidFill>
              </a:defRPr>
            </a:pPr>
            <a:r>
              <a:rPr sz="1575" b="1">
                <a:solidFill>
                  <a:srgbClr val="162033"/>
                </a:solidFill>
              </a:rPr>
              <a:t>Next best action: document the stack, name the trigger, identify the owner, and set the Genius discovery step.</a:t>
            </a:r>
          </a:p>
        </p:txBody>
      </p:sp>
      <p:sp>
        <p:nvSpPr>
          <p:cNvPr id="6" name="">
            <a:extLst xmlns:a="http://schemas.openxmlformats.org/drawingml/2006/main">
              <a:ext uri="{FF2B5EF4-FFF2-40B4-BE49-F238E27FC236}">
                <a16:creationId xmlns:a16="http://schemas.microsoft.com/office/drawing/2014/main" id="{FDE50563-5858-4E6E-8D93-C0B25BC06148}"/>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09FA4E-902F-41BA-8ACB-4F4C700D0745}"/>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8" name="">
            <a:extLst xmlns:a="http://schemas.openxmlformats.org/drawingml/2006/main">
              <a:ext uri="{FF2B5EF4-FFF2-40B4-BE49-F238E27FC236}">
                <a16:creationId xmlns:a16="http://schemas.microsoft.com/office/drawing/2014/main" id="{38FC30BB-6F5B-4EF4-8540-2CF5B6D3D263}"/>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13</a:t>
            </a:r>
          </a:p>
        </p:txBody>
      </p:sp>
    </p:spTree>
    <p:extLst>
      <p:ext uri="{BB962C8B-B14F-4D97-AF65-F5344CB8AC3E}">
        <p14:creationId xmlns:p14="http://schemas.microsoft.com/office/powerpoint/2010/main" val="15027860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41849E62-41E0-4907-8022-C542A8833436}"/>
              </a:ext>
            </a:extLst>
          </p:cNvPr>
          <p:cNvSpPr>
            <a:spLocks xmlns:a="http://schemas.openxmlformats.org/drawingml/2006/main" noGrp="1"/>
          </p:cNvSpPr>
          <p:nvPr/>
        </p:nvSpPr>
        <p:spPr>
          <a:xfrm xmlns:a="http://schemas.openxmlformats.org/drawingml/2006/main">
            <a:off x="685800" y="3619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5EEF"/>
                </a:solidFill>
              </a:defRPr>
            </a:pPr>
            <a:r>
              <a:rPr sz="975" b="1">
                <a:solidFill>
                  <a:srgbClr val="155EEF"/>
                </a:solidFill>
              </a:rPr>
              <a:t>WORLDPAY RM EDUCATION | SESSION 001</a:t>
            </a:r>
          </a:p>
        </p:txBody>
      </p:sp>
      <p:sp>
        <p:nvSpPr>
          <p:cNvPr id="2" name="slide-title">
            <a:extLst xmlns:a="http://schemas.openxmlformats.org/drawingml/2006/main">
              <a:ext uri="{FF2B5EF4-FFF2-40B4-BE49-F238E27FC236}">
                <a16:creationId xmlns:a16="http://schemas.microsoft.com/office/drawing/2014/main" id="{AE93EDB7-7162-4856-BD65-28468E37DF65}"/>
              </a:ext>
            </a:extLst>
          </p:cNvPr>
          <p:cNvSpPr>
            <a:spLocks xmlns:a="http://schemas.openxmlformats.org/drawingml/2006/main" noGrp="1"/>
          </p:cNvSpPr>
          <p:nvPr/>
        </p:nvSpPr>
        <p:spPr>
          <a:xfrm xmlns:a="http://schemas.openxmlformats.org/drawingml/2006/main">
            <a:off x="685800" y="723900"/>
            <a:ext cx="914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62033"/>
                </a:solidFill>
              </a:defRPr>
            </a:pPr>
            <a:r>
              <a:rPr sz="2850" b="1">
                <a:solidFill>
                  <a:srgbClr val="162033"/>
                </a:solidFill>
              </a:rPr>
              <a:t>Close with one practical exercise</a:t>
            </a:r>
          </a:p>
        </p:txBody>
      </p:sp>
      <p:sp>
        <p:nvSpPr>
          <p:cNvPr id="3" name="">
            <a:extLst xmlns:a="http://schemas.openxmlformats.org/drawingml/2006/main">
              <a:ext uri="{FF2B5EF4-FFF2-40B4-BE49-F238E27FC236}">
                <a16:creationId xmlns:a16="http://schemas.microsoft.com/office/drawing/2014/main" id="{588720AD-F876-4467-A1C9-9D9A5494A82B}"/>
              </a:ext>
            </a:extLst>
          </p:cNvPr>
          <p:cNvSpPr>
            <a:spLocks xmlns:a="http://schemas.openxmlformats.org/drawingml/2006/main" noGrp="1"/>
          </p:cNvSpPr>
          <p:nvPr/>
        </p:nvSpPr>
        <p:spPr>
          <a:xfrm xmlns:a="http://schemas.openxmlformats.org/drawingml/2006/main">
            <a:off x="914400" y="1857375"/>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62033"/>
                </a:solidFill>
              </a:defRPr>
            </a:pPr>
            <a:r>
              <a:rPr sz="2100" b="1">
                <a:solidFill>
                  <a:srgbClr val="162033"/>
                </a:solidFill>
              </a:rPr>
              <a:t>For one assigned account, fill in the platform map:</a:t>
            </a:r>
          </a:p>
        </p:txBody>
      </p:sp>
      <p:sp>
        <p:nvSpPr>
          <p:cNvPr id="4" name="">
            <a:extLst xmlns:a="http://schemas.openxmlformats.org/drawingml/2006/main">
              <a:ext uri="{FF2B5EF4-FFF2-40B4-BE49-F238E27FC236}">
                <a16:creationId xmlns:a16="http://schemas.microsoft.com/office/drawing/2014/main" id="{0A386276-3F30-4022-A7E5-8055387C7A8E}"/>
              </a:ext>
            </a:extLst>
          </p:cNvPr>
          <p:cNvSpPr>
            <a:spLocks xmlns:a="http://schemas.openxmlformats.org/drawingml/2006/main" noGrp="1"/>
          </p:cNvSpPr>
          <p:nvPr/>
        </p:nvSpPr>
        <p:spPr>
          <a:xfrm xmlns:a="http://schemas.openxmlformats.org/drawingml/2006/main">
            <a:off x="1314450" y="2571750"/>
            <a:ext cx="4095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42526E"/>
                </a:solidFill>
              </a:defRPr>
            </a:pPr>
            <a:r>
              <a:rPr sz="1800" b="0">
                <a:solidFill>
                  <a:srgbClr val="42526E"/>
                </a:solidFill>
              </a:rPr>
              <a:t>- Current POS</a:t>
            </a:r>
          </a:p>
          <a:p xmlns:a="http://schemas.openxmlformats.org/drawingml/2006/main">
            <a:pPr algn="l">
              <a:defRPr sz="1800" b="0">
                <a:solidFill>
                  <a:srgbClr val="42526E"/>
                </a:solidFill>
              </a:defRPr>
            </a:pPr>
            <a:r>
              <a:rPr sz="1800" b="0">
                <a:solidFill>
                  <a:srgbClr val="42526E"/>
                </a:solidFill>
              </a:rPr>
              <a:t>- Payment processor / gateway</a:t>
            </a:r>
          </a:p>
          <a:p xmlns:a="http://schemas.openxmlformats.org/drawingml/2006/main">
            <a:pPr algn="l">
              <a:defRPr sz="1800" b="0">
                <a:solidFill>
                  <a:srgbClr val="42526E"/>
                </a:solidFill>
              </a:defRPr>
            </a:pPr>
            <a:r>
              <a:rPr sz="1800" b="0">
                <a:solidFill>
                  <a:srgbClr val="42526E"/>
                </a:solidFill>
              </a:rPr>
              <a:t>- Digital ordering</a:t>
            </a:r>
          </a:p>
          <a:p xmlns:a="http://schemas.openxmlformats.org/drawingml/2006/main">
            <a:pPr algn="l">
              <a:defRPr sz="1800" b="0">
                <a:solidFill>
                  <a:srgbClr val="42526E"/>
                </a:solidFill>
              </a:defRPr>
            </a:pPr>
            <a:r>
              <a:rPr sz="1800" b="0">
                <a:solidFill>
                  <a:srgbClr val="42526E"/>
                </a:solidFill>
              </a:rPr>
              <a:t>- Loyalty / CRM</a:t>
            </a:r>
          </a:p>
          <a:p xmlns:a="http://schemas.openxmlformats.org/drawingml/2006/main">
            <a:pPr algn="l">
              <a:defRPr sz="1800" b="0">
                <a:solidFill>
                  <a:srgbClr val="42526E"/>
                </a:solidFill>
              </a:defRPr>
            </a:pPr>
            <a:r>
              <a:rPr sz="1800" b="0">
                <a:solidFill>
                  <a:srgbClr val="42526E"/>
                </a:solidFill>
              </a:rPr>
              <a:t>- Kitchen / KDS</a:t>
            </a:r>
          </a:p>
        </p:txBody>
      </p:sp>
      <p:sp>
        <p:nvSpPr>
          <p:cNvPr id="5" name="">
            <a:extLst xmlns:a="http://schemas.openxmlformats.org/drawingml/2006/main">
              <a:ext uri="{FF2B5EF4-FFF2-40B4-BE49-F238E27FC236}">
                <a16:creationId xmlns:a16="http://schemas.microsoft.com/office/drawing/2014/main" id="{56C0964F-F302-431F-9CCC-C94AFA574179}"/>
              </a:ext>
            </a:extLst>
          </p:cNvPr>
          <p:cNvSpPr>
            <a:spLocks xmlns:a="http://schemas.openxmlformats.org/drawingml/2006/main" noGrp="1"/>
          </p:cNvSpPr>
          <p:nvPr/>
        </p:nvSpPr>
        <p:spPr>
          <a:xfrm xmlns:a="http://schemas.openxmlformats.org/drawingml/2006/main">
            <a:off x="6591300" y="2571750"/>
            <a:ext cx="4095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42526E"/>
                </a:solidFill>
              </a:defRPr>
            </a:pPr>
            <a:r>
              <a:rPr sz="1800" b="0">
                <a:solidFill>
                  <a:srgbClr val="42526E"/>
                </a:solidFill>
              </a:rPr>
              <a:t>- Hardware footprint</a:t>
            </a:r>
          </a:p>
          <a:p xmlns:a="http://schemas.openxmlformats.org/drawingml/2006/main">
            <a:pPr algn="l">
              <a:defRPr sz="1800" b="0">
                <a:solidFill>
                  <a:srgbClr val="42526E"/>
                </a:solidFill>
              </a:defRPr>
            </a:pPr>
            <a:r>
              <a:rPr sz="1800" b="0">
                <a:solidFill>
                  <a:srgbClr val="42526E"/>
                </a:solidFill>
              </a:rPr>
              <a:t>- Current trigger</a:t>
            </a:r>
          </a:p>
          <a:p xmlns:a="http://schemas.openxmlformats.org/drawingml/2006/main">
            <a:pPr algn="l">
              <a:defRPr sz="1800" b="0">
                <a:solidFill>
                  <a:srgbClr val="42526E"/>
                </a:solidFill>
              </a:defRPr>
            </a:pPr>
            <a:r>
              <a:rPr sz="1800" b="0">
                <a:solidFill>
                  <a:srgbClr val="42526E"/>
                </a:solidFill>
              </a:rPr>
              <a:t>- Decision owner</a:t>
            </a:r>
          </a:p>
          <a:p xmlns:a="http://schemas.openxmlformats.org/drawingml/2006/main">
            <a:pPr algn="l">
              <a:defRPr sz="1800" b="0">
                <a:solidFill>
                  <a:srgbClr val="42526E"/>
                </a:solidFill>
              </a:defRPr>
            </a:pPr>
            <a:r>
              <a:rPr sz="1800" b="0">
                <a:solidFill>
                  <a:srgbClr val="42526E"/>
                </a:solidFill>
              </a:rPr>
              <a:t>- Likely wedge</a:t>
            </a:r>
          </a:p>
          <a:p xmlns:a="http://schemas.openxmlformats.org/drawingml/2006/main">
            <a:pPr algn="l">
              <a:defRPr sz="1800" b="0">
                <a:solidFill>
                  <a:srgbClr val="42526E"/>
                </a:solidFill>
              </a:defRPr>
            </a:pPr>
            <a:r>
              <a:rPr sz="1800" b="0">
                <a:solidFill>
                  <a:srgbClr val="42526E"/>
                </a:solidFill>
              </a:rPr>
              <a:t>- Next best action</a:t>
            </a:r>
          </a:p>
        </p:txBody>
      </p:sp>
      <p:sp>
        <p:nvSpPr>
          <p:cNvPr id="6" name="">
            <a:extLst xmlns:a="http://schemas.openxmlformats.org/drawingml/2006/main">
              <a:ext uri="{FF2B5EF4-FFF2-40B4-BE49-F238E27FC236}">
                <a16:creationId xmlns:a16="http://schemas.microsoft.com/office/drawing/2014/main" id="{C859D74A-BD0F-491C-BDB5-2EC315CF42B6}"/>
              </a:ext>
            </a:extLst>
          </p:cNvPr>
          <p:cNvSpPr>
            <a:spLocks xmlns:a="http://schemas.openxmlformats.org/drawingml/2006/main" noGrp="1"/>
          </p:cNvSpPr>
          <p:nvPr/>
        </p:nvSpPr>
        <p:spPr>
          <a:xfrm xmlns:a="http://schemas.openxmlformats.org/drawingml/2006/main">
            <a:off x="1200150" y="4781550"/>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55EEF"/>
                </a:solidFill>
              </a:defRPr>
            </a:pPr>
            <a:r>
              <a:rPr sz="1350" b="1">
                <a:solidFill>
                  <a:srgbClr val="155EEF"/>
                </a:solidFill>
              </a:rPr>
              <a:t>Future sessions go deep on each piece: POS, KDS, drive-thru, kiosk, DMB, loyalty, back office, hardware, support, integrations.</a:t>
            </a:r>
          </a:p>
        </p:txBody>
      </p:sp>
      <p:sp>
        <p:nvSpPr>
          <p:cNvPr id="7" name="">
            <a:extLst xmlns:a="http://schemas.openxmlformats.org/drawingml/2006/main">
              <a:ext uri="{FF2B5EF4-FFF2-40B4-BE49-F238E27FC236}">
                <a16:creationId xmlns:a16="http://schemas.microsoft.com/office/drawing/2014/main" id="{A777D35E-B044-44D7-8A77-83937C1E45BF}"/>
              </a:ext>
            </a:extLst>
          </p:cNvPr>
          <p:cNvSpPr>
            <a:spLocks xmlns:a="http://schemas.openxmlformats.org/drawingml/2006/main" noGrp="1"/>
          </p:cNvSpPr>
          <p:nvPr/>
        </p:nvSpPr>
        <p:spPr>
          <a:xfrm xmlns:a="http://schemas.openxmlformats.org/drawingml/2006/main">
            <a:off x="1524000" y="5334000"/>
            <a:ext cx="9144000" cy="552450"/>
          </a:xfrm>
          <a:prstGeom xmlns:a="http://schemas.openxmlformats.org/drawingml/2006/main" prst="roundRect">
            <a:avLst>
              <a:gd name="adj" fmla="val 13793"/>
            </a:avLst>
          </a:prstGeom>
          <a:solidFill xmlns:a="http://schemas.openxmlformats.org/drawingml/2006/main">
            <a:srgbClr val="EAF2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62033"/>
                </a:solidFill>
              </a:defRPr>
            </a:pPr>
            <a:r>
              <a:rPr sz="1800" b="1">
                <a:solidFill>
                  <a:srgbClr val="162033"/>
                </a:solidFill>
              </a:rPr>
              <a:t>Q&amp;A: What would you ask next before bringing Genius in?</a:t>
            </a:r>
          </a:p>
        </p:txBody>
      </p:sp>
      <p:sp>
        <p:nvSpPr>
          <p:cNvPr id="8" name="">
            <a:extLst xmlns:a="http://schemas.openxmlformats.org/drawingml/2006/main">
              <a:ext uri="{FF2B5EF4-FFF2-40B4-BE49-F238E27FC236}">
                <a16:creationId xmlns:a16="http://schemas.microsoft.com/office/drawing/2014/main" id="{6B360049-F1B8-477F-BF72-6189DDADBBD7}"/>
              </a:ext>
            </a:extLst>
          </p:cNvPr>
          <p:cNvSpPr>
            <a:spLocks xmlns:a="http://schemas.openxmlformats.org/drawingml/2006/main" noGrp="1"/>
          </p:cNvSpPr>
          <p:nvPr/>
        </p:nvSpPr>
        <p:spPr>
          <a:xfrm xmlns:a="http://schemas.openxmlformats.org/drawingml/2006/main">
            <a:off x="685800" y="6343650"/>
            <a:ext cx="108204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51B0E3-395E-493D-980C-2E37D4A18E16}"/>
              </a:ext>
            </a:extLst>
          </p:cNvPr>
          <p:cNvSpPr>
            <a:spLocks xmlns:a="http://schemas.openxmlformats.org/drawingml/2006/main" noGrp="1"/>
          </p:cNvSpPr>
          <p:nvPr/>
        </p:nvSpPr>
        <p:spPr>
          <a:xfrm xmlns:a="http://schemas.openxmlformats.org/drawingml/2006/main">
            <a:off x="685800" y="6438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B778C"/>
                </a:solidFill>
              </a:defRPr>
            </a:pPr>
            <a:r>
              <a:rPr sz="900" b="0">
                <a:solidFill>
                  <a:srgbClr val="6B778C"/>
                </a:solidFill>
              </a:rPr>
              <a:t>Genius platform training for Worldpay relationship managers</a:t>
            </a:r>
          </a:p>
        </p:txBody>
      </p:sp>
      <p:sp>
        <p:nvSpPr>
          <p:cNvPr id="10" name="">
            <a:extLst xmlns:a="http://schemas.openxmlformats.org/drawingml/2006/main">
              <a:ext uri="{FF2B5EF4-FFF2-40B4-BE49-F238E27FC236}">
                <a16:creationId xmlns:a16="http://schemas.microsoft.com/office/drawing/2014/main" id="{B4E91F8D-4AFE-4427-BD2F-CA51F033ABE5}"/>
              </a:ext>
            </a:extLst>
          </p:cNvPr>
          <p:cNvSpPr>
            <a:spLocks xmlns:a="http://schemas.openxmlformats.org/drawingml/2006/main" noGrp="1"/>
          </p:cNvSpPr>
          <p:nvPr/>
        </p:nvSpPr>
        <p:spPr>
          <a:xfrm xmlns:a="http://schemas.openxmlformats.org/drawingml/2006/main">
            <a:off x="11049000" y="64389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B778C"/>
                </a:solidFill>
              </a:defRPr>
            </a:pPr>
            <a:r>
              <a:rPr sz="900" b="1">
                <a:solidFill>
                  <a:srgbClr val="6B778C"/>
                </a:solidFill>
              </a:rPr>
              <a:t>14</a:t>
            </a:r>
          </a:p>
        </p:txBody>
      </p:sp>
    </p:spTree>
    <p:extLst>
      <p:ext uri="{BB962C8B-B14F-4D97-AF65-F5344CB8AC3E}">
        <p14:creationId xmlns:p14="http://schemas.microsoft.com/office/powerpoint/2010/main" val="1348021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2026-07-30T15:58:17.5410000Z</dcterms:created>
  <dcterms:modified xsi:type="dcterms:W3CDTF">2026-07-30T15:58:17.5410000Z</dcterms:modified>
</coreProperties>
</file>