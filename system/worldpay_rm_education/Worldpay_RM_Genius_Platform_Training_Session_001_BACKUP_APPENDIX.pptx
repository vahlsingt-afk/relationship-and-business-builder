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3d8015455411c" /><Relationship Type="http://schemas.openxmlformats.org/officeDocument/2006/relationships/extended-properties" Target="/docProps/app.xml" Id="R53f9877ee5dc45ba" /><Relationship Type="http://schemas.openxmlformats.org/officeDocument/2006/relationships/officeDocument" Target="/ppt/presentation.xml" Id="R4feb3f5646be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850d24f5244f93"/>
  </p:sldMasterIdLst>
  <p:notesMasterIdLst>
    <p:notesMasterId xmlns:r="http://schemas.openxmlformats.org/officeDocument/2006/relationships" r:id="R562f1a400f704cbb"/>
  </p:notesMasterIdLst>
  <p:sldIdLst>
    <p:sldId xmlns:r="http://schemas.openxmlformats.org/officeDocument/2006/relationships" id="256" r:id="R00ef309c29774c21"/>
    <p:sldId xmlns:r="http://schemas.openxmlformats.org/officeDocument/2006/relationships" id="257" r:id="R53df9ec4d55f46f0"/>
    <p:sldId xmlns:r="http://schemas.openxmlformats.org/officeDocument/2006/relationships" id="258" r:id="R2229a07b287841b7"/>
    <p:sldId xmlns:r="http://schemas.openxmlformats.org/officeDocument/2006/relationships" id="259" r:id="Rd1b89828adfa4ec1"/>
    <p:sldId xmlns:r="http://schemas.openxmlformats.org/officeDocument/2006/relationships" id="260" r:id="R7949ad01cd7e4336"/>
    <p:sldId xmlns:r="http://schemas.openxmlformats.org/officeDocument/2006/relationships" id="261" r:id="R3c6869726e6e4dde"/>
    <p:sldId xmlns:r="http://schemas.openxmlformats.org/officeDocument/2006/relationships" id="262" r:id="R125695d8724b4b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1f38d3e8d422a" /><Relationship Type="http://schemas.openxmlformats.org/officeDocument/2006/relationships/slideMaster" Target="/ppt/slideMasters/slideMaster1.xml" Id="Rdc850d24f5244f93" /><Relationship Type="http://schemas.openxmlformats.org/officeDocument/2006/relationships/notesMaster" Target="/ppt/notesMasters/notesMaster1.xml" Id="R562f1a400f704cbb" /><Relationship Type="http://schemas.openxmlformats.org/officeDocument/2006/relationships/presProps" Target="/ppt/presProps.xml" Id="R581011dde6c64d07" /><Relationship Type="http://schemas.openxmlformats.org/officeDocument/2006/relationships/tableStyles" Target="/ppt/tableStyles.xml" Id="Re32127b142aa41e2" /><Relationship Type="http://schemas.openxmlformats.org/officeDocument/2006/relationships/slide" Target="/ppt/slides/slide1.xml" Id="R00ef309c29774c21" /><Relationship Type="http://schemas.openxmlformats.org/officeDocument/2006/relationships/slide" Target="/ppt/slides/slide2.xml" Id="R53df9ec4d55f46f0" /><Relationship Type="http://schemas.openxmlformats.org/officeDocument/2006/relationships/slide" Target="/ppt/slides/slide3.xml" Id="R2229a07b287841b7" /><Relationship Type="http://schemas.openxmlformats.org/officeDocument/2006/relationships/slide" Target="/ppt/slides/slide4.xml" Id="Rd1b89828adfa4ec1" /><Relationship Type="http://schemas.openxmlformats.org/officeDocument/2006/relationships/slide" Target="/ppt/slides/slide5.xml" Id="R7949ad01cd7e4336" /><Relationship Type="http://schemas.openxmlformats.org/officeDocument/2006/relationships/slide" Target="/ppt/slides/slide6.xml" Id="R3c6869726e6e4dde" /><Relationship Type="http://schemas.openxmlformats.org/officeDocument/2006/relationships/slide" Target="/ppt/slides/slide7.xml" Id="R125695d8724b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8c258d290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547dfddb747db" /><Relationship Type="http://schemas.openxmlformats.org/officeDocument/2006/relationships/notesMaster" Target="/ppt/notesMasters/notesMaster1.xml" Id="Ra5761c6ac79f46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480ca2fc9c4389" /><Relationship Type="http://schemas.openxmlformats.org/officeDocument/2006/relationships/notesMaster" Target="/ppt/notesMasters/notesMaster1.xml" Id="R2bad5c7f8eed41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6982a2c2c64f1d" /><Relationship Type="http://schemas.openxmlformats.org/officeDocument/2006/relationships/notesMaster" Target="/ppt/notesMasters/notesMaster1.xml" Id="R084cd4c9a44a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f55dc6e10e42d4" /><Relationship Type="http://schemas.openxmlformats.org/officeDocument/2006/relationships/notesMaster" Target="/ppt/notesMasters/notesMaster1.xml" Id="R48ac823d59d5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2e16b7d034dbf" /><Relationship Type="http://schemas.openxmlformats.org/officeDocument/2006/relationships/notesMaster" Target="/ppt/notesMasters/notesMaster1.xml" Id="R8adffb36b3a94f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8ac87857f1428f" /><Relationship Type="http://schemas.openxmlformats.org/officeDocument/2006/relationships/notesMaster" Target="/ppt/notesMasters/notesMaster1.xml" Id="R5a914011147249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a29a07f8264ebb" /><Relationship Type="http://schemas.openxmlformats.org/officeDocument/2006/relationships/notesMaster" Target="/ppt/notesMasters/notesMaster1.xml" Id="R3e6c65647acd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appendix is a parking lot for proof and deeper material. Keep the live training focused on RM understanding and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Todd direction: future trainings will cover each platform component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proof only. Avoid opening the live session with corporate credentials unless the room needs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Genius WP - RM taining.pptx, slides 2-6.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proof story, not all three, during the live Q&amp;A unless the audience wants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Genius WP - RM taining.pptx, slides 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simplified teaching version of the master pitch deck's phased implementation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Genius - QSR Master Pitch Deck 1, slide 52.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useful if the room asks how to talk about competitors. Keep it neutral and discovery-oriented.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Genius competitor matrix whitepaper.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if the session moves into live account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Worldpay 30 Account Capture Plan v1.</a:t>
            </a:r>
          </a:p>
          <a:p xmlns:a="http://schemas.openxmlformats.org/drawingml/2006/main">
            <a:r>
              <a:t>Todd account intelligence notes on Pollo Campero and Church's.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from Session 001 into the broader 100-course curriculum.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Todd note: future training will be on each piece of the Genius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0d6e146b7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596ea0fabe4a64" /><Relationship Type="http://schemas.openxmlformats.org/officeDocument/2006/relationships/slideLayout" Target="/ppt/slideLayouts/slideLayout1.xml" Id="R7216c6613aaa40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16c6613aaa40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c019b1cdc4138" /><Relationship Type="http://schemas.openxmlformats.org/officeDocument/2006/relationships/notesSlide" Target="/ppt/notesSlides/notesSlide1.xml" Id="R3c6bb4b3e5f842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9a58e7e3a4b6d" /><Relationship Type="http://schemas.openxmlformats.org/officeDocument/2006/relationships/notesSlide" Target="/ppt/notesSlides/notesSlide2.xml" Id="R6c2ae0c323364e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e439fec94ab8" /><Relationship Type="http://schemas.openxmlformats.org/officeDocument/2006/relationships/notesSlide" Target="/ppt/notesSlides/notesSlide3.xml" Id="R795b48a4ae44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9355297f64fee" /><Relationship Type="http://schemas.openxmlformats.org/officeDocument/2006/relationships/notesSlide" Target="/ppt/notesSlides/notesSlide4.xml" Id="Rf44f9ebd6f0b41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292ed88d94e10" /><Relationship Type="http://schemas.openxmlformats.org/officeDocument/2006/relationships/notesSlide" Target="/ppt/notesSlides/notesSlide5.xml" Id="Re16e7d2fd82743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76bcab49a4ce5" /><Relationship Type="http://schemas.openxmlformats.org/officeDocument/2006/relationships/notesSlide" Target="/ppt/notesSlides/notesSlide6.xml" Id="Rae7ef8af4e71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738023084f4c" /><Relationship Type="http://schemas.openxmlformats.org/officeDocument/2006/relationships/notesSlide" Target="/ppt/notesSlides/notesSlide7.xml" Id="R033a247d6cc9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34BD4-D303-4BF7-B784-799F587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62033"/>
                </a:solidFill>
              </a:defRPr>
            </a:pPr>
            <a:r>
              <a:rPr sz="4050" b="1">
                <a:solidFill>
                  <a:srgbClr val="162033"/>
                </a:solidFill>
              </a:rPr>
              <a:t>Session 001 Backup 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BDDC-88CB-4230-8C11-DA1949CB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526E"/>
                </a:solidFill>
              </a:defRPr>
            </a:pPr>
            <a:r>
              <a:rPr sz="1950" b="0">
                <a:solidFill>
                  <a:srgbClr val="42526E"/>
                </a:solidFill>
              </a:rPr>
              <a:t>Credibility proof, optional framing, and deeper material for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F153B-E3BA-4A36-B4D9-793E2E13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Use only when it helps answer a question. Do not let the appendix crowd the 20-minute orientation.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A1586-1E09-47CA-B481-A0CD32C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BE11B-E8F4-416B-8323-FECC73F5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1430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4C98B-AC8D-4538-8CBA-85AB400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Worldpay RM education</a:t>
            </a:r>
          </a:p>
        </p:txBody>
      </p:sp>
    </p:spTree>
    <p:extLst>
      <p:ext uri="{BB962C8B-B14F-4D97-AF65-F5344CB8AC3E}">
        <p14:creationId xmlns:p14="http://schemas.microsoft.com/office/powerpoint/2010/main" val="1397387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41C840B2-F661-4BDC-BD04-DE243AD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80B57E-0DDB-4503-BE8E-2BA9A0A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Credibility proof: Global Payments has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11CEC-49A9-45E8-A251-A11C7021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C3B50-D06C-41FD-AE10-14F11665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Scale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424B1-669B-457B-BA40-A870B4F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57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Operates in 100+ countries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Fortune 500 company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- 27,000+ team members worldwide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- 3,500+ sales professionals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146D5-0310-44E9-82C9-B2F0421D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0D3F2-56DE-4FE1-867B-4EE64410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Restaurant proof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DE706-7AC0-402D-92E3-ED3A08CA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57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Works with leading QSR brands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Processes millions of orders per day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Large installed self-serve footprint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Global scale with local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B9E4D-BB43-4B7A-AFAF-A764B079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033"/>
                </a:solidFill>
              </a:defRPr>
            </a:pPr>
            <a:r>
              <a:rPr sz="1725" b="1">
                <a:solidFill>
                  <a:srgbClr val="162033"/>
                </a:solidFill>
              </a:rPr>
              <a:t>Use this when an RM asks: why should a restaurant operator believe we can support a platform conversation?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E0F46-5933-4DAB-8387-74C01E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A225-D5DE-456F-AEF4-B2BDFFB7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4F15A-02AD-4205-92A9-B10441E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8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700C94D-EE2B-48AD-9E42-F69D7615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6AF757-5D69-4DD6-A84A-F7DF8A1B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Customer proof: what corporate buyers want to see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EE7CA-EDB2-4BFE-A98B-F453F933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1CD97-B0B6-477C-90C0-03C30D7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A&amp;W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EFE24-27FD-49E9-9DAC-CAF0059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3143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Modernized 1,000+ restaurants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Unified fragmented tech stack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Improved speed and visibility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B94D0-D629-4AF4-A555-BE45A5C8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FE55A-C7C8-4F7C-BC1F-5B432891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CosMc's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29C05-3870-45C3-A773-21D49DC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3143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Breadth of solution enabled one supplier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Moved faster on a new concept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Cloud POS, kiosks, DMBs, 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E7937-8F51-4339-8032-3847FC1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BBF1D-5934-4722-AC55-2458EFCA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7Brew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31DBD-0FA0-40D3-9EB9-9623DC2C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1432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- 530+ locations in 9 weeks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Centralized updates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Consistent workflows across 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5BFA9-D877-4889-B15C-D614AA88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These stories support the corporate promise: tangible result, system proof, lower operating noise.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FF26E-878D-477A-9D59-3060F25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79371-D7AA-430E-9223-59EE760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A4972-5469-41A0-9689-42CC2FA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9265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87BB33F-4812-4D0F-88FC-B266F763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C9CB9C-A6B3-409F-9C88-FBA93A9F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Implementation proof matters because field noise kills platform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20CB6-E8A1-44EC-924B-50EF819A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26BCB-2618-4708-9D6D-D93A3F1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What corporate wants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5020A-02B2-4CE7-9775-630BC83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572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Predictable rollout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Clear milestones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Franchisee readiness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Visible progress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Low escalation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7DF23-55EA-4752-B75D-2C2B1A26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5EC7F-E1B5-4C5D-832E-A198764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What stores want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5C9D3-B33F-4FED-8FBE-A78E425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572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Training that works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Local support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Minimal disruption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Reliable install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Fast answers after go-live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82969-30A5-42DC-B21E-025EB18F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994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2033"/>
                </a:solidFill>
              </a:defRPr>
            </a:pPr>
            <a:r>
              <a:rPr sz="1725" b="1">
                <a:solidFill>
                  <a:srgbClr val="162033"/>
                </a:solidFill>
              </a:rPr>
              <a:t>This is why implementation belongs in the platform story, even when the first conversation starts with payments.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F96E0-774B-4337-A5C3-361EB0A2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F644A-94F9-4D6F-97B1-08E0C82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9A6E8-EFA9-441C-B900-DDDC1E1E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846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C014E2B3-196C-4EE9-B0DE-A92CD9AA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7D74A-FE96-4C02-AACA-D1ECC8A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Platform archetypes help RMs understand the competitive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E8ABE-5B50-4C07-9B28-CD21491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4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9CB6-3B7A-40BE-AC42-DF72462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Legacy enterprise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9DB04-678E-4B71-80E6-9F42CE4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Large installed base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Deep functionality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Can be complex to change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Watch: middleware, versioning, rollout burden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5FF76-94EC-4364-9BD5-ECDE907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78EF8-F234-4BF8-B3C4-C9D22A4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Decoupled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833FD-A1CB-4EED-818B-4B812625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Modern product story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Partner ecosystem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Flexible integrations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Watch: multiple owners, payment routing, enterprise scale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09621-90F2-424A-8E74-BF41A2E9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2C886-81DB-45FE-A318-94B12BC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Unified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63B6-D8C9-4E33-9B8D-47A9788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POS, payments, hardware closer together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Fewer handoffs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Clearer ownership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Watch: fit, timing, workflow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2CDC4-6865-458E-8CF1-D6959AF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357B2-49B0-410E-8CE7-62F3258A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8B56C-BFFC-416B-B4F0-4261CCD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2593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2B91F68A-6B8B-46B6-B000-FBB0FA9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AFE75C-D244-4C87-ACAD-7F2B5F3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Account patterns tell the RM how to 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1EB85-169E-4A7B-9833-B4420A50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5CF53-5E51-4249-BDB0-D975445B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POS / gateway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F6232-EA35-4714-AC58-5E5ED26B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257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Example: Papa John's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Qualify timing and decision owner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Bring Genius into platform discovery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E5B1A-7835-4359-934E-BBA4A51B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61A8C-E875-4F4F-8A67-465339C4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Proprietary estate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4442B-E287-4E25-A64C-D3B0AA57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257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Examples: Subway, Domino's, Little Caesars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Do not force POS displacement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Look for adjacent wedges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170D4-1C8D-43BD-83C8-6E2C239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A31D8-C6EA-4498-B522-0FCFD59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Competitive / split estate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6991-C371-4F92-B27F-E5C9724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2575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Examples: Church's, Pollo Campero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Keep the relationship warm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Track migration, pain, support, and fragmentation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AFEED-50D5-48CC-8601-8F9B976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2033"/>
                </a:solidFill>
              </a:defRPr>
            </a:pPr>
            <a:r>
              <a:rPr sz="2100" b="1">
                <a:solidFill>
                  <a:srgbClr val="162033"/>
                </a:solidFill>
              </a:rPr>
              <a:t>A good RM does not pitch the same thing to every account.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F456C-C198-40C5-9E85-589F5E62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98229-4CBD-41AE-8766-A7F6080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093D8-C893-4103-BC74-AE2DBE4C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8291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5D9E616F-A2BE-4EF8-92A8-EF0895B9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5EEF"/>
                </a:solidFill>
              </a:defRPr>
            </a:pPr>
            <a:r>
              <a:rPr sz="975" b="1">
                <a:solidFill>
                  <a:srgbClr val="155EEF"/>
                </a:solidFill>
              </a:rPr>
              <a:t>WORLDPAY RM EDUCATION | SESSION 001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51511E-69BB-4352-93AB-60234DA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</a:defRPr>
            </a:pPr>
            <a:r>
              <a:rPr sz="2850" b="1">
                <a:solidFill>
                  <a:srgbClr val="162033"/>
                </a:solidFill>
              </a:rPr>
              <a:t>Future sessions can go deep one platform piece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26295-CC68-46CB-88AD-FEF62323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7E957-D0B7-404F-8206-25EC507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Commerce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B05B-0C19-4C3D-9AED-21522C83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POS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Payments architecture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Hardware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Implementation and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75980-857B-481E-93B9-51EAF78F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5E123-63E4-455B-B239-4654D0C0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Operating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163F-1A19-4139-A79C-70ACFA7D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52700"/>
            <a:ext cx="2952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KDS / kitchen management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Drive-thru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Kiosk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Digital menu boards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F3F23-DE31-4A72-8729-723C57D8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097F8-5E87-4470-9029-04CD67E2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Data + ecosystem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C7AA5-041B-4BF7-A753-9DD1F5DD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2952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Online/mobile ordering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Loyalty / gift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Back office</a:t>
            </a:r>
          </a:p>
          <a:p xmlns:a="http://schemas.openxmlformats.org/drawingml/2006/main">
            <a:pPr algn="l">
              <a:defRPr sz="1350" b="0">
                <a:solidFill>
                  <a:srgbClr val="42526E"/>
                </a:solidFill>
              </a:defRPr>
            </a:pPr>
            <a:r>
              <a:rPr sz="1350" b="0">
                <a:solidFill>
                  <a:srgbClr val="42526E"/>
                </a:solidFill>
              </a:rPr>
              <a:t>- Integrations /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7E187-36C5-40CA-9A90-EB97EB6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033"/>
                </a:solidFill>
              </a:defRPr>
            </a:pPr>
            <a:r>
              <a:rPr sz="1800" b="1">
                <a:solidFill>
                  <a:srgbClr val="162033"/>
                </a:solidFill>
              </a:rPr>
              <a:t>Session 001 should create the mental map. The series creates confidence by 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CECF2-BC21-4158-82CB-D5356972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7407B-A388-437C-958A-DDDAD200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78C"/>
                </a:solidFill>
              </a:defRPr>
            </a:pPr>
            <a:r>
              <a:rPr sz="900" b="0">
                <a:solidFill>
                  <a:srgbClr val="6B778C"/>
                </a:solidFill>
              </a:rPr>
              <a:t>Genius platform training for Worldpay relationship managers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D1A4F-FB97-41E2-AB7D-C533BCA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B778C"/>
                </a:solidFill>
              </a:defRPr>
            </a:pPr>
            <a:r>
              <a:rPr sz="900" b="1">
                <a:solidFill>
                  <a:srgbClr val="6B778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980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2026-07-30T15:58:28.6500000Z</dcterms:created>
  <dcterms:modified xsi:type="dcterms:W3CDTF">2026-07-30T15:58:28.6500000Z</dcterms:modified>
</coreProperties>
</file>